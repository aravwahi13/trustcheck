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72" r:id="rId10"/>
    <p:sldId id="271" r:id="rId11"/>
    <p:sldId id="264" r:id="rId12"/>
    <p:sldId id="265" r:id="rId13"/>
    <p:sldId id="266"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28"/>
  </p:normalViewPr>
  <p:slideViewPr>
    <p:cSldViewPr snapToGrid="0" snapToObjects="1">
      <p:cViewPr varScale="1">
        <p:scale>
          <a:sx n="102" d="100"/>
          <a:sy n="102" d="100"/>
        </p:scale>
        <p:origin x="85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822960"/>
            <a:ext cx="5303520" cy="553998"/>
          </a:xfrm>
          <a:prstGeom prst="rect">
            <a:avLst/>
          </a:prstGeom>
          <a:noFill/>
        </p:spPr>
        <p:txBody>
          <a:bodyPr wrap="square" anchor="t">
            <a:spAutoFit/>
          </a:bodyPr>
          <a:lstStyle/>
          <a:p>
            <a:pPr algn="l"/>
            <a:r>
              <a:rPr sz="3000" b="1" dirty="0" err="1">
                <a:solidFill>
                  <a:srgbClr val="F2F6FF"/>
                </a:solidFill>
                <a:latin typeface="Aptos"/>
              </a:rPr>
              <a:t>TrustCheck</a:t>
            </a:r>
            <a:r>
              <a:rPr sz="3000" b="1" dirty="0">
                <a:solidFill>
                  <a:srgbClr val="F2F6FF"/>
                </a:solidFill>
                <a:latin typeface="Aptos"/>
              </a:rPr>
              <a:t> </a:t>
            </a:r>
          </a:p>
        </p:txBody>
      </p:sp>
      <p:sp>
        <p:nvSpPr>
          <p:cNvPr id="7" name="TextBox 6"/>
          <p:cNvSpPr txBox="1"/>
          <p:nvPr/>
        </p:nvSpPr>
        <p:spPr>
          <a:xfrm>
            <a:off x="777240" y="1417320"/>
            <a:ext cx="7772400" cy="548640"/>
          </a:xfrm>
          <a:prstGeom prst="rect">
            <a:avLst/>
          </a:prstGeom>
          <a:noFill/>
        </p:spPr>
        <p:txBody>
          <a:bodyPr wrap="square" anchor="t">
            <a:spAutoFit/>
          </a:bodyPr>
          <a:lstStyle/>
          <a:p>
            <a:pPr algn="l"/>
            <a:r>
              <a:rPr sz="2300" b="1">
                <a:solidFill>
                  <a:srgbClr val="4CC9F0"/>
                </a:solidFill>
                <a:latin typeface="Aptos"/>
              </a:rPr>
              <a:t>Hybrid Fake Review Detection System</a:t>
            </a:r>
          </a:p>
        </p:txBody>
      </p:sp>
      <p:sp>
        <p:nvSpPr>
          <p:cNvPr id="8" name="Rounded Rectangle 7"/>
          <p:cNvSpPr/>
          <p:nvPr/>
        </p:nvSpPr>
        <p:spPr>
          <a:xfrm>
            <a:off x="777240" y="2240280"/>
            <a:ext cx="5029200" cy="214884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41832" y="2350008"/>
            <a:ext cx="1828129" cy="338554"/>
          </a:xfrm>
          <a:prstGeom prst="rect">
            <a:avLst/>
          </a:prstGeom>
          <a:noFill/>
        </p:spPr>
        <p:txBody>
          <a:bodyPr wrap="none">
            <a:spAutoFit/>
          </a:bodyPr>
          <a:lstStyle/>
          <a:p>
            <a:pPr>
              <a:defRPr sz="1200" b="1">
                <a:solidFill>
                  <a:srgbClr val="4CC9F0"/>
                </a:solidFill>
                <a:latin typeface="Aptos"/>
              </a:defRPr>
            </a:pPr>
            <a:r>
              <a:rPr sz="1600"/>
              <a:t>Academic Project</a:t>
            </a:r>
          </a:p>
        </p:txBody>
      </p:sp>
      <p:sp>
        <p:nvSpPr>
          <p:cNvPr id="10" name="TextBox 9"/>
          <p:cNvSpPr txBox="1"/>
          <p:nvPr/>
        </p:nvSpPr>
        <p:spPr>
          <a:xfrm>
            <a:off x="987552" y="2721360"/>
            <a:ext cx="4590288" cy="1246495"/>
          </a:xfrm>
          <a:prstGeom prst="rect">
            <a:avLst/>
          </a:prstGeom>
          <a:noFill/>
        </p:spPr>
        <p:txBody>
          <a:bodyPr wrap="square" anchor="t">
            <a:spAutoFit/>
          </a:bodyPr>
          <a:lstStyle/>
          <a:p>
            <a:pPr algn="l"/>
            <a:r>
              <a:rPr sz="1500" b="0" dirty="0">
                <a:solidFill>
                  <a:srgbClr val="F2F6FF"/>
                </a:solidFill>
                <a:latin typeface="Aptos"/>
              </a:rPr>
              <a:t>Team Members
Arav Wahi</a:t>
            </a:r>
            <a:r>
              <a:rPr lang="en-US" sz="1500" b="0" dirty="0">
                <a:solidFill>
                  <a:srgbClr val="F2F6FF"/>
                </a:solidFill>
                <a:latin typeface="Aptos"/>
              </a:rPr>
              <a:t>- S24CSEU1949</a:t>
            </a:r>
            <a:r>
              <a:rPr sz="1500" b="0" dirty="0">
                <a:solidFill>
                  <a:srgbClr val="F2F6FF"/>
                </a:solidFill>
                <a:latin typeface="Aptos"/>
              </a:rPr>
              <a:t>
Aditya Patidar</a:t>
            </a:r>
            <a:r>
              <a:rPr lang="en-US" sz="1500" b="0" dirty="0">
                <a:solidFill>
                  <a:srgbClr val="F2F6FF"/>
                </a:solidFill>
                <a:latin typeface="Aptos"/>
              </a:rPr>
              <a:t>- S24CSEU1942 </a:t>
            </a:r>
            <a:r>
              <a:rPr sz="1500" b="0" dirty="0">
                <a:solidFill>
                  <a:srgbClr val="F2F6FF"/>
                </a:solidFill>
                <a:latin typeface="Aptos"/>
              </a:rPr>
              <a:t>
Payal Kaushi</a:t>
            </a:r>
            <a:r>
              <a:rPr lang="en-US" sz="1500" b="0" dirty="0">
                <a:solidFill>
                  <a:srgbClr val="F2F6FF"/>
                </a:solidFill>
                <a:latin typeface="Aptos"/>
              </a:rPr>
              <a:t>k- S24CSEU1669 </a:t>
            </a:r>
            <a:r>
              <a:rPr sz="1500" b="0" dirty="0">
                <a:solidFill>
                  <a:srgbClr val="F2F6FF"/>
                </a:solidFill>
                <a:latin typeface="Aptos"/>
              </a:rPr>
              <a:t>
Aayush K. Singh</a:t>
            </a:r>
            <a:r>
              <a:rPr lang="en-US" sz="1500" b="0" dirty="0">
                <a:solidFill>
                  <a:srgbClr val="F2F6FF"/>
                </a:solidFill>
                <a:latin typeface="Aptos"/>
              </a:rPr>
              <a:t>- S24CSEU1943</a:t>
            </a:r>
            <a:endParaRPr sz="1500" b="0" dirty="0">
              <a:solidFill>
                <a:srgbClr val="F2F6FF"/>
              </a:solidFill>
              <a:latin typeface="Aptos"/>
            </a:endParaRPr>
          </a:p>
        </p:txBody>
      </p:sp>
      <p:sp>
        <p:nvSpPr>
          <p:cNvPr id="12" name="Rounded Rectangle 11"/>
          <p:cNvSpPr/>
          <p:nvPr/>
        </p:nvSpPr>
        <p:spPr>
          <a:xfrm>
            <a:off x="6537960" y="1143000"/>
            <a:ext cx="4572000" cy="438912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12280" y="4983480"/>
            <a:ext cx="4023360" cy="457200"/>
          </a:xfrm>
          <a:prstGeom prst="rect">
            <a:avLst/>
          </a:prstGeom>
          <a:noFill/>
        </p:spPr>
        <p:txBody>
          <a:bodyPr wrap="square" anchor="t">
            <a:spAutoFit/>
          </a:bodyPr>
          <a:lstStyle/>
          <a:p>
            <a:pPr algn="ctr"/>
            <a:r>
              <a:rPr sz="1400" b="1">
                <a:solidFill>
                  <a:srgbClr val="FF9F43"/>
                </a:solidFill>
                <a:latin typeface="Aptos"/>
              </a:rPr>
              <a:t>Machine Learning | NLP | FastAPI | SQLite</a:t>
            </a:r>
          </a:p>
        </p:txBody>
      </p:sp>
      <p:pic>
        <p:nvPicPr>
          <p:cNvPr id="14" name="Picture 13">
            <a:extLst>
              <a:ext uri="{FF2B5EF4-FFF2-40B4-BE49-F238E27FC236}">
                <a16:creationId xmlns:a16="http://schemas.microsoft.com/office/drawing/2014/main" id="{305ED4CA-C673-1932-4ACA-82C2A0CD6F40}"/>
              </a:ext>
            </a:extLst>
          </p:cNvPr>
          <p:cNvPicPr>
            <a:picLocks noChangeAspect="1"/>
          </p:cNvPicPr>
          <p:nvPr/>
        </p:nvPicPr>
        <p:blipFill>
          <a:blip r:embed="rId2"/>
          <a:stretch>
            <a:fillRect/>
          </a:stretch>
        </p:blipFill>
        <p:spPr>
          <a:xfrm>
            <a:off x="7704904" y="2006322"/>
            <a:ext cx="2238112" cy="221146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Problem Statement</a:t>
            </a:r>
          </a:p>
        </p:txBody>
      </p:sp>
      <p:sp>
        <p:nvSpPr>
          <p:cNvPr id="7" name="Rounded Rectangle 6"/>
          <p:cNvSpPr/>
          <p:nvPr/>
        </p:nvSpPr>
        <p:spPr>
          <a:xfrm>
            <a:off x="731520" y="1325880"/>
            <a:ext cx="6492240" cy="4480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828800"/>
            <a:ext cx="5989320" cy="2286000"/>
          </a:xfrm>
          <a:prstGeom prst="rect">
            <a:avLst/>
          </a:prstGeom>
          <a:noFill/>
        </p:spPr>
        <p:txBody>
          <a:bodyPr wrap="square" anchor="t">
            <a:spAutoFit/>
          </a:bodyPr>
          <a:lstStyle/>
          <a:p>
            <a:pPr algn="l"/>
            <a:r>
              <a:rPr sz="1800" b="0">
                <a:solidFill>
                  <a:srgbClr val="F2F6FF"/>
                </a:solidFill>
                <a:latin typeface="Aptos"/>
              </a:rPr>
              <a:t>Online reviews strongly influence customer decisions, but fake and manipulated reviews distort trust in digital marketplaces. Customers are pushed toward poor-quality products, honest sellers lose visibility, and platforms suffer reputational damage. As AI-generated content becomes more persuasive, detecting deceptive reviews with simple filters is no longer sufficient.</a:t>
            </a:r>
          </a:p>
        </p:txBody>
      </p:sp>
      <p:sp>
        <p:nvSpPr>
          <p:cNvPr id="9" name="Rounded Rectangle 8"/>
          <p:cNvSpPr/>
          <p:nvPr/>
        </p:nvSpPr>
        <p:spPr>
          <a:xfrm>
            <a:off x="7498079" y="164592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80959" y="1783080"/>
            <a:ext cx="3200400" cy="256032"/>
          </a:xfrm>
          <a:prstGeom prst="rect">
            <a:avLst/>
          </a:prstGeom>
          <a:noFill/>
        </p:spPr>
        <p:txBody>
          <a:bodyPr wrap="square" anchor="t">
            <a:spAutoFit/>
          </a:bodyPr>
          <a:lstStyle/>
          <a:p>
            <a:pPr algn="l"/>
            <a:r>
              <a:rPr sz="1300" b="1">
                <a:solidFill>
                  <a:srgbClr val="4CC9F0"/>
                </a:solidFill>
                <a:latin typeface="Aptos"/>
              </a:rPr>
              <a:t>Customer Risk</a:t>
            </a:r>
          </a:p>
        </p:txBody>
      </p:sp>
      <p:sp>
        <p:nvSpPr>
          <p:cNvPr id="11" name="TextBox 10"/>
          <p:cNvSpPr txBox="1"/>
          <p:nvPr/>
        </p:nvSpPr>
        <p:spPr>
          <a:xfrm>
            <a:off x="7680959" y="2057400"/>
            <a:ext cx="3154680" cy="457200"/>
          </a:xfrm>
          <a:prstGeom prst="rect">
            <a:avLst/>
          </a:prstGeom>
          <a:noFill/>
        </p:spPr>
        <p:txBody>
          <a:bodyPr wrap="square" anchor="t">
            <a:spAutoFit/>
          </a:bodyPr>
          <a:lstStyle/>
          <a:p>
            <a:pPr algn="l"/>
            <a:r>
              <a:rPr sz="1000" b="0">
                <a:solidFill>
                  <a:srgbClr val="B9C4DC"/>
                </a:solidFill>
                <a:latin typeface="Aptos"/>
              </a:rPr>
              <a:t>Misleading ratings affect real purchase decisions.</a:t>
            </a:r>
          </a:p>
        </p:txBody>
      </p:sp>
      <p:sp>
        <p:nvSpPr>
          <p:cNvPr id="12" name="Rounded Rectangle 11"/>
          <p:cNvSpPr/>
          <p:nvPr/>
        </p:nvSpPr>
        <p:spPr>
          <a:xfrm>
            <a:off x="7498079" y="289864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59" y="3035808"/>
            <a:ext cx="3200400" cy="256032"/>
          </a:xfrm>
          <a:prstGeom prst="rect">
            <a:avLst/>
          </a:prstGeom>
          <a:noFill/>
        </p:spPr>
        <p:txBody>
          <a:bodyPr wrap="square" anchor="t">
            <a:spAutoFit/>
          </a:bodyPr>
          <a:lstStyle/>
          <a:p>
            <a:pPr algn="l"/>
            <a:r>
              <a:rPr sz="1300" b="1">
                <a:solidFill>
                  <a:srgbClr val="4CC9F0"/>
                </a:solidFill>
                <a:latin typeface="Aptos"/>
              </a:rPr>
              <a:t>Seller Impact</a:t>
            </a:r>
          </a:p>
        </p:txBody>
      </p:sp>
      <p:sp>
        <p:nvSpPr>
          <p:cNvPr id="14" name="TextBox 13"/>
          <p:cNvSpPr txBox="1"/>
          <p:nvPr/>
        </p:nvSpPr>
        <p:spPr>
          <a:xfrm>
            <a:off x="7680959" y="3310128"/>
            <a:ext cx="3154680" cy="457200"/>
          </a:xfrm>
          <a:prstGeom prst="rect">
            <a:avLst/>
          </a:prstGeom>
          <a:noFill/>
        </p:spPr>
        <p:txBody>
          <a:bodyPr wrap="square" anchor="t">
            <a:spAutoFit/>
          </a:bodyPr>
          <a:lstStyle/>
          <a:p>
            <a:pPr algn="l"/>
            <a:r>
              <a:rPr sz="1000" b="0">
                <a:solidFill>
                  <a:srgbClr val="B9C4DC"/>
                </a:solidFill>
                <a:latin typeface="Aptos"/>
              </a:rPr>
              <a:t>Genuine sellers lose to manipulated visibility.</a:t>
            </a:r>
          </a:p>
        </p:txBody>
      </p:sp>
      <p:sp>
        <p:nvSpPr>
          <p:cNvPr id="15" name="Rounded Rectangle 14"/>
          <p:cNvSpPr/>
          <p:nvPr/>
        </p:nvSpPr>
        <p:spPr>
          <a:xfrm>
            <a:off x="7498079" y="4151376"/>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80959" y="4288536"/>
            <a:ext cx="3200400" cy="256032"/>
          </a:xfrm>
          <a:prstGeom prst="rect">
            <a:avLst/>
          </a:prstGeom>
          <a:noFill/>
        </p:spPr>
        <p:txBody>
          <a:bodyPr wrap="square" anchor="t">
            <a:spAutoFit/>
          </a:bodyPr>
          <a:lstStyle/>
          <a:p>
            <a:pPr algn="l"/>
            <a:r>
              <a:rPr sz="1300" b="1">
                <a:solidFill>
                  <a:srgbClr val="4CC9F0"/>
                </a:solidFill>
                <a:latin typeface="Aptos"/>
              </a:rPr>
              <a:t>Platform Trust</a:t>
            </a:r>
          </a:p>
        </p:txBody>
      </p:sp>
      <p:sp>
        <p:nvSpPr>
          <p:cNvPr id="17" name="TextBox 16"/>
          <p:cNvSpPr txBox="1"/>
          <p:nvPr/>
        </p:nvSpPr>
        <p:spPr>
          <a:xfrm>
            <a:off x="7680959" y="4562856"/>
            <a:ext cx="3154680" cy="457200"/>
          </a:xfrm>
          <a:prstGeom prst="rect">
            <a:avLst/>
          </a:prstGeom>
          <a:noFill/>
        </p:spPr>
        <p:txBody>
          <a:bodyPr wrap="square" anchor="t">
            <a:spAutoFit/>
          </a:bodyPr>
          <a:lstStyle/>
          <a:p>
            <a:pPr algn="l"/>
            <a:r>
              <a:rPr sz="1000" b="0">
                <a:solidFill>
                  <a:srgbClr val="B9C4DC"/>
                </a:solidFill>
                <a:latin typeface="Aptos"/>
              </a:rPr>
              <a:t>Credibility declines when spam looks authentic.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Motivation</a:t>
            </a:r>
          </a:p>
        </p:txBody>
      </p:sp>
      <p:sp>
        <p:nvSpPr>
          <p:cNvPr id="7" name="Rounded Rectangle 6"/>
          <p:cNvSpPr/>
          <p:nvPr/>
        </p:nvSpPr>
        <p:spPr>
          <a:xfrm>
            <a:off x="914400" y="1508760"/>
            <a:ext cx="10241280" cy="35661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34440" y="2057400"/>
            <a:ext cx="9601200" cy="1920240"/>
          </a:xfrm>
          <a:prstGeom prst="rect">
            <a:avLst/>
          </a:prstGeom>
          <a:noFill/>
        </p:spPr>
        <p:txBody>
          <a:bodyPr wrap="square" anchor="t">
            <a:spAutoFit/>
          </a:bodyPr>
          <a:lstStyle/>
          <a:p>
            <a:pPr algn="ctr"/>
            <a:r>
              <a:rPr sz="1800" b="0">
                <a:solidFill>
                  <a:srgbClr val="F2F6FF"/>
                </a:solidFill>
                <a:latin typeface="Aptos"/>
              </a:rPr>
              <a:t>TrustCheck was created in response to the intersection of e-commerce scale and generative AI. Fake reviews are no longer obvious spam; many are polished, emotionally convincing, and strategically written to influence buyers. This project aims to give users an independent authenticity signal instead of forcing them to rely only on star ratings or hidden platform moderation.</a:t>
            </a:r>
          </a:p>
        </p:txBody>
      </p:sp>
      <p:sp>
        <p:nvSpPr>
          <p:cNvPr id="9" name="Rounded Rectangle 8"/>
          <p:cNvSpPr/>
          <p:nvPr/>
        </p:nvSpPr>
        <p:spPr>
          <a:xfrm>
            <a:off x="1463040" y="457200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45920" y="4709160"/>
            <a:ext cx="3200400" cy="256032"/>
          </a:xfrm>
          <a:prstGeom prst="rect">
            <a:avLst/>
          </a:prstGeom>
          <a:noFill/>
        </p:spPr>
        <p:txBody>
          <a:bodyPr wrap="square" anchor="t">
            <a:spAutoFit/>
          </a:bodyPr>
          <a:lstStyle/>
          <a:p>
            <a:pPr algn="l"/>
            <a:r>
              <a:rPr sz="1300" b="1">
                <a:solidFill>
                  <a:srgbClr val="4CC9F0"/>
                </a:solidFill>
                <a:latin typeface="Aptos"/>
              </a:rPr>
              <a:t>Transparency</a:t>
            </a:r>
          </a:p>
        </p:txBody>
      </p:sp>
      <p:sp>
        <p:nvSpPr>
          <p:cNvPr id="11" name="TextBox 10"/>
          <p:cNvSpPr txBox="1"/>
          <p:nvPr/>
        </p:nvSpPr>
        <p:spPr>
          <a:xfrm>
            <a:off x="1645920" y="4983480"/>
            <a:ext cx="3154680" cy="457200"/>
          </a:xfrm>
          <a:prstGeom prst="rect">
            <a:avLst/>
          </a:prstGeom>
          <a:noFill/>
        </p:spPr>
        <p:txBody>
          <a:bodyPr wrap="square" anchor="t">
            <a:spAutoFit/>
          </a:bodyPr>
          <a:lstStyle/>
          <a:p>
            <a:pPr algn="l"/>
            <a:r>
              <a:rPr sz="1000" b="0">
                <a:solidFill>
                  <a:srgbClr val="B9C4DC"/>
                </a:solidFill>
                <a:latin typeface="Aptos"/>
              </a:rPr>
              <a:t>Expose fraud signals in a user-facing way.</a:t>
            </a:r>
          </a:p>
        </p:txBody>
      </p:sp>
      <p:sp>
        <p:nvSpPr>
          <p:cNvPr id="12" name="Rounded Rectangle 11"/>
          <p:cNvSpPr/>
          <p:nvPr/>
        </p:nvSpPr>
        <p:spPr>
          <a:xfrm>
            <a:off x="5166360" y="457200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49240" y="4709160"/>
            <a:ext cx="3200400" cy="256032"/>
          </a:xfrm>
          <a:prstGeom prst="rect">
            <a:avLst/>
          </a:prstGeom>
          <a:noFill/>
        </p:spPr>
        <p:txBody>
          <a:bodyPr wrap="square" anchor="t">
            <a:spAutoFit/>
          </a:bodyPr>
          <a:lstStyle/>
          <a:p>
            <a:pPr algn="l"/>
            <a:r>
              <a:rPr sz="1300" b="1">
                <a:solidFill>
                  <a:srgbClr val="4CC9F0"/>
                </a:solidFill>
                <a:latin typeface="Aptos"/>
              </a:rPr>
              <a:t>Speed</a:t>
            </a:r>
          </a:p>
        </p:txBody>
      </p:sp>
      <p:sp>
        <p:nvSpPr>
          <p:cNvPr id="14" name="TextBox 13"/>
          <p:cNvSpPr txBox="1"/>
          <p:nvPr/>
        </p:nvSpPr>
        <p:spPr>
          <a:xfrm>
            <a:off x="5349240" y="4983480"/>
            <a:ext cx="3154680" cy="457200"/>
          </a:xfrm>
          <a:prstGeom prst="rect">
            <a:avLst/>
          </a:prstGeom>
          <a:noFill/>
        </p:spPr>
        <p:txBody>
          <a:bodyPr wrap="square" anchor="t">
            <a:spAutoFit/>
          </a:bodyPr>
          <a:lstStyle/>
          <a:p>
            <a:pPr algn="l"/>
            <a:r>
              <a:rPr sz="1000" b="0">
                <a:solidFill>
                  <a:srgbClr val="B9C4DC"/>
                </a:solidFill>
                <a:latin typeface="Aptos"/>
              </a:rPr>
              <a:t>Generate trust estimates instantly.</a:t>
            </a:r>
          </a:p>
        </p:txBody>
      </p:sp>
      <p:sp>
        <p:nvSpPr>
          <p:cNvPr id="15" name="Rounded Rectangle 14"/>
          <p:cNvSpPr/>
          <p:nvPr/>
        </p:nvSpPr>
        <p:spPr>
          <a:xfrm>
            <a:off x="8869680" y="4572000"/>
            <a:ext cx="2926079"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052560" y="4709160"/>
            <a:ext cx="3200400" cy="256032"/>
          </a:xfrm>
          <a:prstGeom prst="rect">
            <a:avLst/>
          </a:prstGeom>
          <a:noFill/>
        </p:spPr>
        <p:txBody>
          <a:bodyPr wrap="square" anchor="t">
            <a:spAutoFit/>
          </a:bodyPr>
          <a:lstStyle/>
          <a:p>
            <a:pPr algn="l"/>
            <a:r>
              <a:rPr sz="1300" b="1">
                <a:solidFill>
                  <a:srgbClr val="4CC9F0"/>
                </a:solidFill>
                <a:latin typeface="Aptos"/>
              </a:rPr>
              <a:t>Scalability</a:t>
            </a:r>
          </a:p>
        </p:txBody>
      </p:sp>
      <p:sp>
        <p:nvSpPr>
          <p:cNvPr id="17" name="TextBox 16"/>
          <p:cNvSpPr txBox="1"/>
          <p:nvPr/>
        </p:nvSpPr>
        <p:spPr>
          <a:xfrm>
            <a:off x="9052560" y="4983480"/>
            <a:ext cx="3154680" cy="457200"/>
          </a:xfrm>
          <a:prstGeom prst="rect">
            <a:avLst/>
          </a:prstGeom>
          <a:noFill/>
        </p:spPr>
        <p:txBody>
          <a:bodyPr wrap="square" anchor="t">
            <a:spAutoFit/>
          </a:bodyPr>
          <a:lstStyle/>
          <a:p>
            <a:pPr algn="l"/>
            <a:r>
              <a:rPr sz="1000" b="0">
                <a:solidFill>
                  <a:srgbClr val="B9C4DC"/>
                </a:solidFill>
                <a:latin typeface="Aptos"/>
              </a:rPr>
              <a:t>Keep the design ready for larger datasets.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Proposed Solution</a:t>
            </a:r>
          </a:p>
        </p:txBody>
      </p:sp>
      <p:sp>
        <p:nvSpPr>
          <p:cNvPr id="7" name="Rounded Rectangle 6"/>
          <p:cNvSpPr/>
          <p:nvPr/>
        </p:nvSpPr>
        <p:spPr>
          <a:xfrm>
            <a:off x="822960" y="201168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148840"/>
            <a:ext cx="3200400" cy="256032"/>
          </a:xfrm>
          <a:prstGeom prst="rect">
            <a:avLst/>
          </a:prstGeom>
          <a:noFill/>
        </p:spPr>
        <p:txBody>
          <a:bodyPr wrap="square" anchor="t">
            <a:spAutoFit/>
          </a:bodyPr>
          <a:lstStyle/>
          <a:p>
            <a:pPr algn="l"/>
            <a:r>
              <a:rPr sz="1300" b="1">
                <a:solidFill>
                  <a:srgbClr val="4CC9F0"/>
                </a:solidFill>
                <a:latin typeface="Aptos"/>
              </a:rPr>
              <a:t>Input</a:t>
            </a:r>
          </a:p>
        </p:txBody>
      </p:sp>
      <p:sp>
        <p:nvSpPr>
          <p:cNvPr id="9" name="TextBox 8"/>
          <p:cNvSpPr txBox="1"/>
          <p:nvPr/>
        </p:nvSpPr>
        <p:spPr>
          <a:xfrm>
            <a:off x="1005840" y="2423160"/>
            <a:ext cx="3154680" cy="457200"/>
          </a:xfrm>
          <a:prstGeom prst="rect">
            <a:avLst/>
          </a:prstGeom>
          <a:noFill/>
        </p:spPr>
        <p:txBody>
          <a:bodyPr wrap="square" anchor="t">
            <a:spAutoFit/>
          </a:bodyPr>
          <a:lstStyle/>
          <a:p>
            <a:pPr algn="l"/>
            <a:r>
              <a:rPr sz="1000" b="0">
                <a:solidFill>
                  <a:srgbClr val="B9C4DC"/>
                </a:solidFill>
                <a:latin typeface="Aptos"/>
              </a:rPr>
              <a:t>Manual review entry, product URL, or CSV upload.</a:t>
            </a:r>
          </a:p>
        </p:txBody>
      </p:sp>
      <p:sp>
        <p:nvSpPr>
          <p:cNvPr id="10" name="Rounded Rectangle 9"/>
          <p:cNvSpPr/>
          <p:nvPr/>
        </p:nvSpPr>
        <p:spPr>
          <a:xfrm>
            <a:off x="4526280" y="201168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60" y="2148840"/>
            <a:ext cx="3200400" cy="256032"/>
          </a:xfrm>
          <a:prstGeom prst="rect">
            <a:avLst/>
          </a:prstGeom>
          <a:noFill/>
        </p:spPr>
        <p:txBody>
          <a:bodyPr wrap="square" anchor="t">
            <a:spAutoFit/>
          </a:bodyPr>
          <a:lstStyle/>
          <a:p>
            <a:pPr algn="l"/>
            <a:r>
              <a:rPr sz="1300" b="1">
                <a:solidFill>
                  <a:srgbClr val="4CC9F0"/>
                </a:solidFill>
                <a:latin typeface="Aptos"/>
              </a:rPr>
              <a:t>Processing</a:t>
            </a:r>
          </a:p>
        </p:txBody>
      </p:sp>
      <p:sp>
        <p:nvSpPr>
          <p:cNvPr id="12" name="TextBox 11"/>
          <p:cNvSpPr txBox="1"/>
          <p:nvPr/>
        </p:nvSpPr>
        <p:spPr>
          <a:xfrm>
            <a:off x="4709160" y="2423160"/>
            <a:ext cx="3154680" cy="457200"/>
          </a:xfrm>
          <a:prstGeom prst="rect">
            <a:avLst/>
          </a:prstGeom>
          <a:noFill/>
        </p:spPr>
        <p:txBody>
          <a:bodyPr wrap="square" anchor="t">
            <a:spAutoFit/>
          </a:bodyPr>
          <a:lstStyle/>
          <a:p>
            <a:pPr algn="l"/>
            <a:r>
              <a:rPr sz="1000" b="0">
                <a:solidFill>
                  <a:srgbClr val="B9C4DC"/>
                </a:solidFill>
                <a:latin typeface="Aptos"/>
              </a:rPr>
              <a:t>NLP + metadata analysis with fraud indicators.</a:t>
            </a:r>
          </a:p>
        </p:txBody>
      </p:sp>
      <p:sp>
        <p:nvSpPr>
          <p:cNvPr id="13" name="Rounded Rectangle 12"/>
          <p:cNvSpPr/>
          <p:nvPr/>
        </p:nvSpPr>
        <p:spPr>
          <a:xfrm>
            <a:off x="8229600" y="201168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2148840"/>
            <a:ext cx="3200400" cy="256032"/>
          </a:xfrm>
          <a:prstGeom prst="rect">
            <a:avLst/>
          </a:prstGeom>
          <a:noFill/>
        </p:spPr>
        <p:txBody>
          <a:bodyPr wrap="square" anchor="t">
            <a:spAutoFit/>
          </a:bodyPr>
          <a:lstStyle/>
          <a:p>
            <a:pPr algn="l"/>
            <a:r>
              <a:rPr sz="1300" b="1">
                <a:solidFill>
                  <a:srgbClr val="4CC9F0"/>
                </a:solidFill>
                <a:latin typeface="Aptos"/>
              </a:rPr>
              <a:t>Output</a:t>
            </a:r>
          </a:p>
        </p:txBody>
      </p:sp>
      <p:sp>
        <p:nvSpPr>
          <p:cNvPr id="15" name="TextBox 14"/>
          <p:cNvSpPr txBox="1"/>
          <p:nvPr/>
        </p:nvSpPr>
        <p:spPr>
          <a:xfrm>
            <a:off x="8412480" y="2423160"/>
            <a:ext cx="3154680" cy="457200"/>
          </a:xfrm>
          <a:prstGeom prst="rect">
            <a:avLst/>
          </a:prstGeom>
          <a:noFill/>
        </p:spPr>
        <p:txBody>
          <a:bodyPr wrap="square" anchor="t">
            <a:spAutoFit/>
          </a:bodyPr>
          <a:lstStyle/>
          <a:p>
            <a:pPr algn="l"/>
            <a:r>
              <a:rPr sz="1000" b="0">
                <a:solidFill>
                  <a:srgbClr val="B9C4DC"/>
                </a:solidFill>
                <a:latin typeface="Aptos"/>
              </a:rPr>
              <a:t>Trust score, anomaly score, and suspicious/genuine label.</a:t>
            </a:r>
          </a:p>
        </p:txBody>
      </p:sp>
      <p:sp>
        <p:nvSpPr>
          <p:cNvPr id="16" name="Rounded Rectangle 15"/>
          <p:cNvSpPr/>
          <p:nvPr/>
        </p:nvSpPr>
        <p:spPr>
          <a:xfrm>
            <a:off x="1097280" y="4389120"/>
            <a:ext cx="9875520" cy="100584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25880" y="4663440"/>
            <a:ext cx="9418320" cy="320040"/>
          </a:xfrm>
          <a:prstGeom prst="rect">
            <a:avLst/>
          </a:prstGeom>
          <a:noFill/>
        </p:spPr>
        <p:txBody>
          <a:bodyPr wrap="square" anchor="t">
            <a:spAutoFit/>
          </a:bodyPr>
          <a:lstStyle/>
          <a:p>
            <a:pPr algn="ctr"/>
            <a:r>
              <a:rPr sz="2000" b="1">
                <a:solidFill>
                  <a:srgbClr val="4CC9F0"/>
                </a:solidFill>
                <a:latin typeface="Aptos"/>
              </a:rPr>
              <a:t>User Input  -&gt;  TrustCheck Analysis Engine  -&gt;  Decision Support Result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System Architecture</a:t>
            </a:r>
          </a:p>
        </p:txBody>
      </p:sp>
      <p:sp>
        <p:nvSpPr>
          <p:cNvPr id="7" name="TextBox 6"/>
          <p:cNvSpPr txBox="1"/>
          <p:nvPr/>
        </p:nvSpPr>
        <p:spPr>
          <a:xfrm>
            <a:off x="777240" y="1143000"/>
            <a:ext cx="10058400" cy="457200"/>
          </a:xfrm>
          <a:prstGeom prst="rect">
            <a:avLst/>
          </a:prstGeom>
          <a:noFill/>
        </p:spPr>
        <p:txBody>
          <a:bodyPr wrap="square" anchor="t">
            <a:spAutoFit/>
          </a:bodyPr>
          <a:lstStyle/>
          <a:p>
            <a:pPr algn="l"/>
            <a:r>
              <a:rPr sz="1500" b="0">
                <a:solidFill>
                  <a:srgbClr val="B9C4DC"/>
                </a:solidFill>
                <a:latin typeface="Aptos"/>
              </a:rPr>
              <a:t>TrustCheck is organized as a five-layer flow that moves from data collection to actionable review authenticity scoring.</a:t>
            </a:r>
          </a:p>
        </p:txBody>
      </p:sp>
      <p:sp>
        <p:nvSpPr>
          <p:cNvPr id="8" name="Rounded Rectangle 7"/>
          <p:cNvSpPr/>
          <p:nvPr/>
        </p:nvSpPr>
        <p:spPr>
          <a:xfrm>
            <a:off x="731520" y="1828800"/>
            <a:ext cx="192024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2121408"/>
            <a:ext cx="1627632" cy="411480"/>
          </a:xfrm>
          <a:prstGeom prst="rect">
            <a:avLst/>
          </a:prstGeom>
          <a:noFill/>
        </p:spPr>
        <p:txBody>
          <a:bodyPr wrap="square" anchor="t">
            <a:spAutoFit/>
          </a:bodyPr>
          <a:lstStyle/>
          <a:p>
            <a:pPr algn="ctr"/>
            <a:r>
              <a:rPr sz="1400" b="1">
                <a:solidFill>
                  <a:srgbClr val="F2F6FF"/>
                </a:solidFill>
                <a:latin typeface="Aptos"/>
              </a:rPr>
              <a:t>User Input</a:t>
            </a:r>
          </a:p>
        </p:txBody>
      </p:sp>
      <p:sp>
        <p:nvSpPr>
          <p:cNvPr id="10" name="Chevron 9"/>
          <p:cNvSpPr/>
          <p:nvPr/>
        </p:nvSpPr>
        <p:spPr>
          <a:xfrm>
            <a:off x="2697480" y="2176272"/>
            <a:ext cx="164592" cy="320040"/>
          </a:xfrm>
          <a:prstGeom prst="chevron">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2926080" y="1828800"/>
            <a:ext cx="192024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72384" y="2121408"/>
            <a:ext cx="1627632" cy="411480"/>
          </a:xfrm>
          <a:prstGeom prst="rect">
            <a:avLst/>
          </a:prstGeom>
          <a:noFill/>
        </p:spPr>
        <p:txBody>
          <a:bodyPr wrap="square" anchor="t">
            <a:spAutoFit/>
          </a:bodyPr>
          <a:lstStyle/>
          <a:p>
            <a:pPr algn="ctr"/>
            <a:r>
              <a:rPr sz="1400" b="1">
                <a:solidFill>
                  <a:srgbClr val="F2F6FF"/>
                </a:solidFill>
                <a:latin typeface="Aptos"/>
              </a:rPr>
              <a:t>FastAPI Backend</a:t>
            </a:r>
          </a:p>
        </p:txBody>
      </p:sp>
      <p:sp>
        <p:nvSpPr>
          <p:cNvPr id="13" name="Chevron 12"/>
          <p:cNvSpPr/>
          <p:nvPr/>
        </p:nvSpPr>
        <p:spPr>
          <a:xfrm>
            <a:off x="4892040" y="2176272"/>
            <a:ext cx="164592" cy="320040"/>
          </a:xfrm>
          <a:prstGeom prst="chevron">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5120640" y="1828800"/>
            <a:ext cx="192024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266944" y="2121408"/>
            <a:ext cx="1627632" cy="411480"/>
          </a:xfrm>
          <a:prstGeom prst="rect">
            <a:avLst/>
          </a:prstGeom>
          <a:noFill/>
        </p:spPr>
        <p:txBody>
          <a:bodyPr wrap="square" anchor="t">
            <a:spAutoFit/>
          </a:bodyPr>
          <a:lstStyle/>
          <a:p>
            <a:pPr algn="ctr"/>
            <a:r>
              <a:rPr sz="1400" b="1">
                <a:solidFill>
                  <a:srgbClr val="F2F6FF"/>
                </a:solidFill>
                <a:latin typeface="Aptos"/>
              </a:rPr>
              <a:t>NLP Processing</a:t>
            </a:r>
          </a:p>
        </p:txBody>
      </p:sp>
      <p:sp>
        <p:nvSpPr>
          <p:cNvPr id="16" name="Chevron 15"/>
          <p:cNvSpPr/>
          <p:nvPr/>
        </p:nvSpPr>
        <p:spPr>
          <a:xfrm>
            <a:off x="7086600" y="2176272"/>
            <a:ext cx="164592" cy="320040"/>
          </a:xfrm>
          <a:prstGeom prst="chevron">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15200" y="1828800"/>
            <a:ext cx="192024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461504" y="2121408"/>
            <a:ext cx="1627632" cy="411480"/>
          </a:xfrm>
          <a:prstGeom prst="rect">
            <a:avLst/>
          </a:prstGeom>
          <a:noFill/>
        </p:spPr>
        <p:txBody>
          <a:bodyPr wrap="square" anchor="t">
            <a:spAutoFit/>
          </a:bodyPr>
          <a:lstStyle/>
          <a:p>
            <a:pPr algn="ctr"/>
            <a:r>
              <a:rPr sz="1400" b="1">
                <a:solidFill>
                  <a:srgbClr val="F2F6FF"/>
                </a:solidFill>
                <a:latin typeface="Aptos"/>
              </a:rPr>
              <a:t>Model Layer</a:t>
            </a:r>
          </a:p>
        </p:txBody>
      </p:sp>
      <p:sp>
        <p:nvSpPr>
          <p:cNvPr id="19" name="Chevron 18"/>
          <p:cNvSpPr/>
          <p:nvPr/>
        </p:nvSpPr>
        <p:spPr>
          <a:xfrm>
            <a:off x="9281160" y="2176272"/>
            <a:ext cx="164592" cy="320040"/>
          </a:xfrm>
          <a:prstGeom prst="chevron">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9509760" y="1828800"/>
            <a:ext cx="192024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56064" y="2121408"/>
            <a:ext cx="1627632" cy="411480"/>
          </a:xfrm>
          <a:prstGeom prst="rect">
            <a:avLst/>
          </a:prstGeom>
          <a:noFill/>
        </p:spPr>
        <p:txBody>
          <a:bodyPr wrap="square" anchor="t">
            <a:spAutoFit/>
          </a:bodyPr>
          <a:lstStyle/>
          <a:p>
            <a:pPr algn="ctr"/>
            <a:r>
              <a:rPr sz="1400" b="1">
                <a:solidFill>
                  <a:srgbClr val="F2F6FF"/>
                </a:solidFill>
                <a:latin typeface="Aptos"/>
              </a:rPr>
              <a:t>Database</a:t>
            </a:r>
          </a:p>
        </p:txBody>
      </p:sp>
      <p:sp>
        <p:nvSpPr>
          <p:cNvPr id="22" name="Rounded Rectangle 21"/>
          <p:cNvSpPr/>
          <p:nvPr/>
        </p:nvSpPr>
        <p:spPr>
          <a:xfrm>
            <a:off x="731520" y="384048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3977640"/>
            <a:ext cx="3200400" cy="256032"/>
          </a:xfrm>
          <a:prstGeom prst="rect">
            <a:avLst/>
          </a:prstGeom>
          <a:noFill/>
        </p:spPr>
        <p:txBody>
          <a:bodyPr wrap="square" anchor="t">
            <a:spAutoFit/>
          </a:bodyPr>
          <a:lstStyle/>
          <a:p>
            <a:pPr algn="l"/>
            <a:r>
              <a:rPr sz="1300" b="1">
                <a:solidFill>
                  <a:srgbClr val="4CC9F0"/>
                </a:solidFill>
                <a:latin typeface="Aptos"/>
              </a:rPr>
              <a:t>User Input</a:t>
            </a:r>
          </a:p>
        </p:txBody>
      </p:sp>
      <p:sp>
        <p:nvSpPr>
          <p:cNvPr id="24" name="TextBox 23"/>
          <p:cNvSpPr txBox="1"/>
          <p:nvPr/>
        </p:nvSpPr>
        <p:spPr>
          <a:xfrm>
            <a:off x="914400" y="4251960"/>
            <a:ext cx="3154680" cy="457200"/>
          </a:xfrm>
          <a:prstGeom prst="rect">
            <a:avLst/>
          </a:prstGeom>
          <a:noFill/>
        </p:spPr>
        <p:txBody>
          <a:bodyPr wrap="square" anchor="t">
            <a:spAutoFit/>
          </a:bodyPr>
          <a:lstStyle/>
          <a:p>
            <a:pPr algn="l"/>
            <a:r>
              <a:rPr sz="1000" b="0">
                <a:solidFill>
                  <a:srgbClr val="B9C4DC"/>
                </a:solidFill>
                <a:latin typeface="Aptos"/>
              </a:rPr>
              <a:t>Forms, URLs, and CSV ingestion.</a:t>
            </a:r>
          </a:p>
        </p:txBody>
      </p:sp>
      <p:sp>
        <p:nvSpPr>
          <p:cNvPr id="25" name="Rounded Rectangle 24"/>
          <p:cNvSpPr/>
          <p:nvPr/>
        </p:nvSpPr>
        <p:spPr>
          <a:xfrm>
            <a:off x="4434840" y="384048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617720" y="3977640"/>
            <a:ext cx="3200400" cy="256032"/>
          </a:xfrm>
          <a:prstGeom prst="rect">
            <a:avLst/>
          </a:prstGeom>
          <a:noFill/>
        </p:spPr>
        <p:txBody>
          <a:bodyPr wrap="square" anchor="t">
            <a:spAutoFit/>
          </a:bodyPr>
          <a:lstStyle/>
          <a:p>
            <a:pPr algn="l"/>
            <a:r>
              <a:rPr sz="1300" b="1">
                <a:solidFill>
                  <a:srgbClr val="4CC9F0"/>
                </a:solidFill>
                <a:latin typeface="Aptos"/>
              </a:rPr>
              <a:t>Backend</a:t>
            </a:r>
          </a:p>
        </p:txBody>
      </p:sp>
      <p:sp>
        <p:nvSpPr>
          <p:cNvPr id="27" name="TextBox 26"/>
          <p:cNvSpPr txBox="1"/>
          <p:nvPr/>
        </p:nvSpPr>
        <p:spPr>
          <a:xfrm>
            <a:off x="4617720" y="4251960"/>
            <a:ext cx="3154680" cy="457200"/>
          </a:xfrm>
          <a:prstGeom prst="rect">
            <a:avLst/>
          </a:prstGeom>
          <a:noFill/>
        </p:spPr>
        <p:txBody>
          <a:bodyPr wrap="square" anchor="t">
            <a:spAutoFit/>
          </a:bodyPr>
          <a:lstStyle/>
          <a:p>
            <a:pPr algn="l"/>
            <a:r>
              <a:rPr sz="1000" b="0">
                <a:solidFill>
                  <a:srgbClr val="B9C4DC"/>
                </a:solidFill>
                <a:latin typeface="Aptos"/>
              </a:rPr>
              <a:t>Routing, validation, orchestration.</a:t>
            </a:r>
          </a:p>
        </p:txBody>
      </p:sp>
      <p:sp>
        <p:nvSpPr>
          <p:cNvPr id="28" name="Rounded Rectangle 27"/>
          <p:cNvSpPr/>
          <p:nvPr/>
        </p:nvSpPr>
        <p:spPr>
          <a:xfrm>
            <a:off x="8138160" y="384048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21040" y="3977640"/>
            <a:ext cx="3200400" cy="256032"/>
          </a:xfrm>
          <a:prstGeom prst="rect">
            <a:avLst/>
          </a:prstGeom>
          <a:noFill/>
        </p:spPr>
        <p:txBody>
          <a:bodyPr wrap="square" anchor="t">
            <a:spAutoFit/>
          </a:bodyPr>
          <a:lstStyle/>
          <a:p>
            <a:pPr algn="l"/>
            <a:r>
              <a:rPr sz="1300" b="1">
                <a:solidFill>
                  <a:srgbClr val="4CC9F0"/>
                </a:solidFill>
                <a:latin typeface="Aptos"/>
              </a:rPr>
              <a:t>NLP</a:t>
            </a:r>
          </a:p>
        </p:txBody>
      </p:sp>
      <p:sp>
        <p:nvSpPr>
          <p:cNvPr id="30" name="TextBox 29"/>
          <p:cNvSpPr txBox="1"/>
          <p:nvPr/>
        </p:nvSpPr>
        <p:spPr>
          <a:xfrm>
            <a:off x="8321040" y="4251960"/>
            <a:ext cx="3154680" cy="457200"/>
          </a:xfrm>
          <a:prstGeom prst="rect">
            <a:avLst/>
          </a:prstGeom>
          <a:noFill/>
        </p:spPr>
        <p:txBody>
          <a:bodyPr wrap="square" anchor="t">
            <a:spAutoFit/>
          </a:bodyPr>
          <a:lstStyle/>
          <a:p>
            <a:pPr algn="l"/>
            <a:r>
              <a:rPr sz="1000" b="0">
                <a:solidFill>
                  <a:srgbClr val="B9C4DC"/>
                </a:solidFill>
                <a:latin typeface="Aptos"/>
              </a:rPr>
              <a:t>Token cleanup, sentiment gap, readability, repetition.</a:t>
            </a:r>
          </a:p>
        </p:txBody>
      </p:sp>
      <p:sp>
        <p:nvSpPr>
          <p:cNvPr id="31" name="Rounded Rectangle 30"/>
          <p:cNvSpPr/>
          <p:nvPr/>
        </p:nvSpPr>
        <p:spPr>
          <a:xfrm>
            <a:off x="731520" y="509320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4400" y="5230368"/>
            <a:ext cx="3200400" cy="256032"/>
          </a:xfrm>
          <a:prstGeom prst="rect">
            <a:avLst/>
          </a:prstGeom>
          <a:noFill/>
        </p:spPr>
        <p:txBody>
          <a:bodyPr wrap="square" anchor="t">
            <a:spAutoFit/>
          </a:bodyPr>
          <a:lstStyle/>
          <a:p>
            <a:pPr algn="l"/>
            <a:r>
              <a:rPr sz="1300" b="1">
                <a:solidFill>
                  <a:srgbClr val="4CC9F0"/>
                </a:solidFill>
                <a:latin typeface="Aptos"/>
              </a:rPr>
              <a:t>Model</a:t>
            </a:r>
          </a:p>
        </p:txBody>
      </p:sp>
      <p:sp>
        <p:nvSpPr>
          <p:cNvPr id="33" name="TextBox 32"/>
          <p:cNvSpPr txBox="1"/>
          <p:nvPr/>
        </p:nvSpPr>
        <p:spPr>
          <a:xfrm>
            <a:off x="914400" y="5504688"/>
            <a:ext cx="3154680" cy="457200"/>
          </a:xfrm>
          <a:prstGeom prst="rect">
            <a:avLst/>
          </a:prstGeom>
          <a:noFill/>
        </p:spPr>
        <p:txBody>
          <a:bodyPr wrap="square" anchor="t">
            <a:spAutoFit/>
          </a:bodyPr>
          <a:lstStyle/>
          <a:p>
            <a:pPr algn="l"/>
            <a:r>
              <a:rPr sz="1000" b="0">
                <a:solidFill>
                  <a:srgbClr val="B9C4DC"/>
                </a:solidFill>
                <a:latin typeface="Aptos"/>
              </a:rPr>
              <a:t>TF-IDF plus engineered feature fusion.</a:t>
            </a:r>
          </a:p>
        </p:txBody>
      </p:sp>
      <p:sp>
        <p:nvSpPr>
          <p:cNvPr id="34" name="Rounded Rectangle 33"/>
          <p:cNvSpPr/>
          <p:nvPr/>
        </p:nvSpPr>
        <p:spPr>
          <a:xfrm>
            <a:off x="4434840" y="509320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17720" y="5230368"/>
            <a:ext cx="3200400" cy="256032"/>
          </a:xfrm>
          <a:prstGeom prst="rect">
            <a:avLst/>
          </a:prstGeom>
          <a:noFill/>
        </p:spPr>
        <p:txBody>
          <a:bodyPr wrap="square" anchor="t">
            <a:spAutoFit/>
          </a:bodyPr>
          <a:lstStyle/>
          <a:p>
            <a:pPr algn="l"/>
            <a:r>
              <a:rPr sz="1300" b="1">
                <a:solidFill>
                  <a:srgbClr val="4CC9F0"/>
                </a:solidFill>
                <a:latin typeface="Aptos"/>
              </a:rPr>
              <a:t>Database</a:t>
            </a:r>
          </a:p>
        </p:txBody>
      </p:sp>
      <p:sp>
        <p:nvSpPr>
          <p:cNvPr id="36" name="TextBox 35"/>
          <p:cNvSpPr txBox="1"/>
          <p:nvPr/>
        </p:nvSpPr>
        <p:spPr>
          <a:xfrm>
            <a:off x="4617720" y="5504688"/>
            <a:ext cx="3154680" cy="457200"/>
          </a:xfrm>
          <a:prstGeom prst="rect">
            <a:avLst/>
          </a:prstGeom>
          <a:noFill/>
        </p:spPr>
        <p:txBody>
          <a:bodyPr wrap="square" anchor="t">
            <a:spAutoFit/>
          </a:bodyPr>
          <a:lstStyle/>
          <a:p>
            <a:pPr algn="l"/>
            <a:r>
              <a:rPr sz="1000" b="0">
                <a:solidFill>
                  <a:srgbClr val="B9C4DC"/>
                </a:solidFill>
                <a:latin typeface="Aptos"/>
              </a:rPr>
              <a:t>Amazon-style raw reviews and analysis records.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Working / Algorithm</a:t>
            </a:r>
          </a:p>
        </p:txBody>
      </p:sp>
      <p:sp>
        <p:nvSpPr>
          <p:cNvPr id="7" name="Rounded Rectangle 6"/>
          <p:cNvSpPr/>
          <p:nvPr/>
        </p:nvSpPr>
        <p:spPr>
          <a:xfrm>
            <a:off x="777240" y="155448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1691640"/>
            <a:ext cx="3200400" cy="256032"/>
          </a:xfrm>
          <a:prstGeom prst="rect">
            <a:avLst/>
          </a:prstGeom>
          <a:noFill/>
        </p:spPr>
        <p:txBody>
          <a:bodyPr wrap="square" anchor="t">
            <a:spAutoFit/>
          </a:bodyPr>
          <a:lstStyle/>
          <a:p>
            <a:pPr algn="l"/>
            <a:r>
              <a:rPr sz="1300" b="1">
                <a:solidFill>
                  <a:srgbClr val="4CC9F0"/>
                </a:solidFill>
                <a:latin typeface="Aptos"/>
              </a:rPr>
              <a:t>1. Input Collection</a:t>
            </a:r>
          </a:p>
        </p:txBody>
      </p:sp>
      <p:sp>
        <p:nvSpPr>
          <p:cNvPr id="9" name="TextBox 8"/>
          <p:cNvSpPr txBox="1"/>
          <p:nvPr/>
        </p:nvSpPr>
        <p:spPr>
          <a:xfrm>
            <a:off x="960120" y="1965960"/>
            <a:ext cx="3154680" cy="457200"/>
          </a:xfrm>
          <a:prstGeom prst="rect">
            <a:avLst/>
          </a:prstGeom>
          <a:noFill/>
        </p:spPr>
        <p:txBody>
          <a:bodyPr wrap="square" anchor="t">
            <a:spAutoFit/>
          </a:bodyPr>
          <a:lstStyle/>
          <a:p>
            <a:pPr algn="l"/>
            <a:r>
              <a:rPr sz="1000" b="0">
                <a:solidFill>
                  <a:srgbClr val="B9C4DC"/>
                </a:solidFill>
                <a:latin typeface="Aptos"/>
              </a:rPr>
              <a:t>Review text, rating, votes, verification, and metadata are collected.</a:t>
            </a:r>
          </a:p>
        </p:txBody>
      </p:sp>
      <p:sp>
        <p:nvSpPr>
          <p:cNvPr id="10" name="Rounded Rectangle 9"/>
          <p:cNvSpPr/>
          <p:nvPr/>
        </p:nvSpPr>
        <p:spPr>
          <a:xfrm>
            <a:off x="4480560" y="155448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63440" y="1691640"/>
            <a:ext cx="3200400" cy="256032"/>
          </a:xfrm>
          <a:prstGeom prst="rect">
            <a:avLst/>
          </a:prstGeom>
          <a:noFill/>
        </p:spPr>
        <p:txBody>
          <a:bodyPr wrap="square" anchor="t">
            <a:spAutoFit/>
          </a:bodyPr>
          <a:lstStyle/>
          <a:p>
            <a:pPr algn="l"/>
            <a:r>
              <a:rPr sz="1300" b="1">
                <a:solidFill>
                  <a:srgbClr val="4CC9F0"/>
                </a:solidFill>
                <a:latin typeface="Aptos"/>
              </a:rPr>
              <a:t>2. Preprocessing</a:t>
            </a:r>
          </a:p>
        </p:txBody>
      </p:sp>
      <p:sp>
        <p:nvSpPr>
          <p:cNvPr id="12" name="TextBox 11"/>
          <p:cNvSpPr txBox="1"/>
          <p:nvPr/>
        </p:nvSpPr>
        <p:spPr>
          <a:xfrm>
            <a:off x="4663440" y="1965960"/>
            <a:ext cx="3154680" cy="457200"/>
          </a:xfrm>
          <a:prstGeom prst="rect">
            <a:avLst/>
          </a:prstGeom>
          <a:noFill/>
        </p:spPr>
        <p:txBody>
          <a:bodyPr wrap="square" anchor="t">
            <a:spAutoFit/>
          </a:bodyPr>
          <a:lstStyle/>
          <a:p>
            <a:pPr algn="l"/>
            <a:r>
              <a:rPr sz="1000" b="0">
                <a:solidFill>
                  <a:srgbClr val="B9C4DC"/>
                </a:solidFill>
                <a:latin typeface="Aptos"/>
              </a:rPr>
              <a:t>The text is cleaned, tokenized, and normalized for NLP analysis.</a:t>
            </a:r>
          </a:p>
        </p:txBody>
      </p:sp>
      <p:sp>
        <p:nvSpPr>
          <p:cNvPr id="13" name="Rounded Rectangle 12"/>
          <p:cNvSpPr/>
          <p:nvPr/>
        </p:nvSpPr>
        <p:spPr>
          <a:xfrm>
            <a:off x="777240" y="280720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2944368"/>
            <a:ext cx="3200400" cy="256032"/>
          </a:xfrm>
          <a:prstGeom prst="rect">
            <a:avLst/>
          </a:prstGeom>
          <a:noFill/>
        </p:spPr>
        <p:txBody>
          <a:bodyPr wrap="square" anchor="t">
            <a:spAutoFit/>
          </a:bodyPr>
          <a:lstStyle/>
          <a:p>
            <a:pPr algn="l"/>
            <a:r>
              <a:rPr sz="1300" b="1">
                <a:solidFill>
                  <a:srgbClr val="4CC9F0"/>
                </a:solidFill>
                <a:latin typeface="Aptos"/>
              </a:rPr>
              <a:t>3. Feature Extraction</a:t>
            </a:r>
          </a:p>
        </p:txBody>
      </p:sp>
      <p:sp>
        <p:nvSpPr>
          <p:cNvPr id="15" name="TextBox 14"/>
          <p:cNvSpPr txBox="1"/>
          <p:nvPr/>
        </p:nvSpPr>
        <p:spPr>
          <a:xfrm>
            <a:off x="960120" y="3218688"/>
            <a:ext cx="3154680" cy="457200"/>
          </a:xfrm>
          <a:prstGeom prst="rect">
            <a:avLst/>
          </a:prstGeom>
          <a:noFill/>
        </p:spPr>
        <p:txBody>
          <a:bodyPr wrap="square" anchor="t">
            <a:spAutoFit/>
          </a:bodyPr>
          <a:lstStyle/>
          <a:p>
            <a:pPr algn="l"/>
            <a:r>
              <a:rPr sz="1000" b="0">
                <a:solidFill>
                  <a:srgbClr val="B9C4DC"/>
                </a:solidFill>
                <a:latin typeface="Aptos"/>
              </a:rPr>
              <a:t>Sentiment, readability, repetition, lexical diversity, and reviewer velocity are computed.</a:t>
            </a:r>
          </a:p>
        </p:txBody>
      </p:sp>
      <p:sp>
        <p:nvSpPr>
          <p:cNvPr id="16" name="Rounded Rectangle 15"/>
          <p:cNvSpPr/>
          <p:nvPr/>
        </p:nvSpPr>
        <p:spPr>
          <a:xfrm>
            <a:off x="4480560" y="280720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63440" y="2944368"/>
            <a:ext cx="3200400" cy="256032"/>
          </a:xfrm>
          <a:prstGeom prst="rect">
            <a:avLst/>
          </a:prstGeom>
          <a:noFill/>
        </p:spPr>
        <p:txBody>
          <a:bodyPr wrap="square" anchor="t">
            <a:spAutoFit/>
          </a:bodyPr>
          <a:lstStyle/>
          <a:p>
            <a:pPr algn="l"/>
            <a:r>
              <a:rPr sz="1300" b="1">
                <a:solidFill>
                  <a:srgbClr val="4CC9F0"/>
                </a:solidFill>
                <a:latin typeface="Aptos"/>
              </a:rPr>
              <a:t>4. Feature Fusion</a:t>
            </a:r>
          </a:p>
        </p:txBody>
      </p:sp>
      <p:sp>
        <p:nvSpPr>
          <p:cNvPr id="18" name="TextBox 17"/>
          <p:cNvSpPr txBox="1"/>
          <p:nvPr/>
        </p:nvSpPr>
        <p:spPr>
          <a:xfrm>
            <a:off x="4663440" y="3218688"/>
            <a:ext cx="3154680" cy="457200"/>
          </a:xfrm>
          <a:prstGeom prst="rect">
            <a:avLst/>
          </a:prstGeom>
          <a:noFill/>
        </p:spPr>
        <p:txBody>
          <a:bodyPr wrap="square" anchor="t">
            <a:spAutoFit/>
          </a:bodyPr>
          <a:lstStyle/>
          <a:p>
            <a:pPr algn="l"/>
            <a:r>
              <a:rPr sz="1000" b="0">
                <a:solidFill>
                  <a:srgbClr val="B9C4DC"/>
                </a:solidFill>
                <a:latin typeface="Aptos"/>
              </a:rPr>
              <a:t>TF-IDF text features are merged with numeric fraud indicators.</a:t>
            </a:r>
          </a:p>
        </p:txBody>
      </p:sp>
      <p:sp>
        <p:nvSpPr>
          <p:cNvPr id="19" name="Rounded Rectangle 18"/>
          <p:cNvSpPr/>
          <p:nvPr/>
        </p:nvSpPr>
        <p:spPr>
          <a:xfrm>
            <a:off x="777240" y="4059936"/>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0120" y="4197096"/>
            <a:ext cx="3200400" cy="256032"/>
          </a:xfrm>
          <a:prstGeom prst="rect">
            <a:avLst/>
          </a:prstGeom>
          <a:noFill/>
        </p:spPr>
        <p:txBody>
          <a:bodyPr wrap="square" anchor="t">
            <a:spAutoFit/>
          </a:bodyPr>
          <a:lstStyle/>
          <a:p>
            <a:pPr algn="l"/>
            <a:r>
              <a:rPr sz="1300" b="1">
                <a:solidFill>
                  <a:srgbClr val="4CC9F0"/>
                </a:solidFill>
                <a:latin typeface="Aptos"/>
              </a:rPr>
              <a:t>5. Prediction</a:t>
            </a:r>
          </a:p>
        </p:txBody>
      </p:sp>
      <p:sp>
        <p:nvSpPr>
          <p:cNvPr id="21" name="TextBox 20"/>
          <p:cNvSpPr txBox="1"/>
          <p:nvPr/>
        </p:nvSpPr>
        <p:spPr>
          <a:xfrm>
            <a:off x="960120" y="4471416"/>
            <a:ext cx="3154680" cy="457200"/>
          </a:xfrm>
          <a:prstGeom prst="rect">
            <a:avLst/>
          </a:prstGeom>
          <a:noFill/>
        </p:spPr>
        <p:txBody>
          <a:bodyPr wrap="square" anchor="t">
            <a:spAutoFit/>
          </a:bodyPr>
          <a:lstStyle/>
          <a:p>
            <a:pPr algn="l"/>
            <a:r>
              <a:rPr sz="1000" b="0">
                <a:solidFill>
                  <a:srgbClr val="B9C4DC"/>
                </a:solidFill>
                <a:latin typeface="Aptos"/>
              </a:rPr>
              <a:t>The model returns label, trust score, and anomaly score.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Core Features</a:t>
            </a:r>
          </a:p>
        </p:txBody>
      </p:sp>
      <p:sp>
        <p:nvSpPr>
          <p:cNvPr id="7" name="Rounded Rectangle 6"/>
          <p:cNvSpPr/>
          <p:nvPr/>
        </p:nvSpPr>
        <p:spPr>
          <a:xfrm>
            <a:off x="868680" y="169164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828800"/>
            <a:ext cx="3200400" cy="256032"/>
          </a:xfrm>
          <a:prstGeom prst="rect">
            <a:avLst/>
          </a:prstGeom>
          <a:noFill/>
        </p:spPr>
        <p:txBody>
          <a:bodyPr wrap="square" anchor="t">
            <a:spAutoFit/>
          </a:bodyPr>
          <a:lstStyle/>
          <a:p>
            <a:pPr algn="l"/>
            <a:r>
              <a:rPr sz="1300" b="1">
                <a:solidFill>
                  <a:srgbClr val="4CC9F0"/>
                </a:solidFill>
                <a:latin typeface="Aptos"/>
              </a:rPr>
              <a:t>Manual Analysis</a:t>
            </a:r>
          </a:p>
        </p:txBody>
      </p:sp>
      <p:sp>
        <p:nvSpPr>
          <p:cNvPr id="9" name="TextBox 8"/>
          <p:cNvSpPr txBox="1"/>
          <p:nvPr/>
        </p:nvSpPr>
        <p:spPr>
          <a:xfrm>
            <a:off x="1051560" y="2103120"/>
            <a:ext cx="3154680" cy="457200"/>
          </a:xfrm>
          <a:prstGeom prst="rect">
            <a:avLst/>
          </a:prstGeom>
          <a:noFill/>
        </p:spPr>
        <p:txBody>
          <a:bodyPr wrap="square" anchor="t">
            <a:spAutoFit/>
          </a:bodyPr>
          <a:lstStyle/>
          <a:p>
            <a:pPr algn="l"/>
            <a:r>
              <a:rPr sz="1000" b="0">
                <a:solidFill>
                  <a:srgbClr val="B9C4DC"/>
                </a:solidFill>
                <a:latin typeface="Aptos"/>
              </a:rPr>
              <a:t>Single review scoring for quick evaluation.</a:t>
            </a:r>
          </a:p>
        </p:txBody>
      </p:sp>
      <p:sp>
        <p:nvSpPr>
          <p:cNvPr id="10" name="Rounded Rectangle 9"/>
          <p:cNvSpPr/>
          <p:nvPr/>
        </p:nvSpPr>
        <p:spPr>
          <a:xfrm>
            <a:off x="4572000" y="169164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80" y="1828800"/>
            <a:ext cx="3200400" cy="256032"/>
          </a:xfrm>
          <a:prstGeom prst="rect">
            <a:avLst/>
          </a:prstGeom>
          <a:noFill/>
        </p:spPr>
        <p:txBody>
          <a:bodyPr wrap="square" anchor="t">
            <a:spAutoFit/>
          </a:bodyPr>
          <a:lstStyle/>
          <a:p>
            <a:pPr algn="l"/>
            <a:r>
              <a:rPr sz="1300" b="1">
                <a:solidFill>
                  <a:srgbClr val="4CC9F0"/>
                </a:solidFill>
                <a:latin typeface="Aptos"/>
              </a:rPr>
              <a:t>URL-Based Analysis</a:t>
            </a:r>
          </a:p>
        </p:txBody>
      </p:sp>
      <p:sp>
        <p:nvSpPr>
          <p:cNvPr id="12" name="TextBox 11"/>
          <p:cNvSpPr txBox="1"/>
          <p:nvPr/>
        </p:nvSpPr>
        <p:spPr>
          <a:xfrm>
            <a:off x="4732020" y="2139696"/>
            <a:ext cx="3154680" cy="457200"/>
          </a:xfrm>
          <a:prstGeom prst="rect">
            <a:avLst/>
          </a:prstGeom>
          <a:noFill/>
        </p:spPr>
        <p:txBody>
          <a:bodyPr wrap="square" anchor="t">
            <a:spAutoFit/>
          </a:bodyPr>
          <a:lstStyle/>
          <a:p>
            <a:pPr algn="l"/>
            <a:r>
              <a:rPr sz="1000" b="0">
                <a:solidFill>
                  <a:srgbClr val="B9C4DC"/>
                </a:solidFill>
                <a:latin typeface="Aptos"/>
              </a:rPr>
              <a:t>Batch analysis through product link ingestion.</a:t>
            </a:r>
          </a:p>
        </p:txBody>
      </p:sp>
      <p:sp>
        <p:nvSpPr>
          <p:cNvPr id="13" name="Rounded Rectangle 12"/>
          <p:cNvSpPr/>
          <p:nvPr/>
        </p:nvSpPr>
        <p:spPr>
          <a:xfrm>
            <a:off x="868680" y="294436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081528"/>
            <a:ext cx="3200400" cy="256032"/>
          </a:xfrm>
          <a:prstGeom prst="rect">
            <a:avLst/>
          </a:prstGeom>
          <a:noFill/>
        </p:spPr>
        <p:txBody>
          <a:bodyPr wrap="square" anchor="t">
            <a:spAutoFit/>
          </a:bodyPr>
          <a:lstStyle/>
          <a:p>
            <a:pPr algn="l"/>
            <a:r>
              <a:rPr sz="1300" b="1">
                <a:solidFill>
                  <a:srgbClr val="4CC9F0"/>
                </a:solidFill>
                <a:latin typeface="Aptos"/>
              </a:rPr>
              <a:t>Dashboard</a:t>
            </a:r>
          </a:p>
        </p:txBody>
      </p:sp>
      <p:sp>
        <p:nvSpPr>
          <p:cNvPr id="15" name="TextBox 14"/>
          <p:cNvSpPr txBox="1"/>
          <p:nvPr/>
        </p:nvSpPr>
        <p:spPr>
          <a:xfrm>
            <a:off x="1051560" y="3355848"/>
            <a:ext cx="3154680" cy="457200"/>
          </a:xfrm>
          <a:prstGeom prst="rect">
            <a:avLst/>
          </a:prstGeom>
          <a:noFill/>
        </p:spPr>
        <p:txBody>
          <a:bodyPr wrap="square" anchor="t">
            <a:spAutoFit/>
          </a:bodyPr>
          <a:lstStyle/>
          <a:p>
            <a:pPr algn="l"/>
            <a:r>
              <a:rPr sz="1000" b="0">
                <a:solidFill>
                  <a:srgbClr val="B9C4DC"/>
                </a:solidFill>
                <a:latin typeface="Aptos"/>
              </a:rPr>
              <a:t>Suspicious trends and overall trust metrics.</a:t>
            </a:r>
          </a:p>
        </p:txBody>
      </p:sp>
      <p:sp>
        <p:nvSpPr>
          <p:cNvPr id="16" name="Rounded Rectangle 15"/>
          <p:cNvSpPr/>
          <p:nvPr/>
        </p:nvSpPr>
        <p:spPr>
          <a:xfrm>
            <a:off x="4572000" y="294436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54880" y="3081528"/>
            <a:ext cx="3200400" cy="256032"/>
          </a:xfrm>
          <a:prstGeom prst="rect">
            <a:avLst/>
          </a:prstGeom>
          <a:noFill/>
        </p:spPr>
        <p:txBody>
          <a:bodyPr wrap="square" anchor="t">
            <a:spAutoFit/>
          </a:bodyPr>
          <a:lstStyle/>
          <a:p>
            <a:pPr algn="l"/>
            <a:r>
              <a:rPr sz="1300" b="1">
                <a:solidFill>
                  <a:srgbClr val="4CC9F0"/>
                </a:solidFill>
                <a:latin typeface="Aptos"/>
              </a:rPr>
              <a:t>History</a:t>
            </a:r>
          </a:p>
        </p:txBody>
      </p:sp>
      <p:sp>
        <p:nvSpPr>
          <p:cNvPr id="18" name="TextBox 17"/>
          <p:cNvSpPr txBox="1"/>
          <p:nvPr/>
        </p:nvSpPr>
        <p:spPr>
          <a:xfrm>
            <a:off x="4754880" y="3355848"/>
            <a:ext cx="3154680" cy="457200"/>
          </a:xfrm>
          <a:prstGeom prst="rect">
            <a:avLst/>
          </a:prstGeom>
          <a:noFill/>
        </p:spPr>
        <p:txBody>
          <a:bodyPr wrap="square" anchor="t">
            <a:spAutoFit/>
          </a:bodyPr>
          <a:lstStyle/>
          <a:p>
            <a:pPr algn="l"/>
            <a:r>
              <a:rPr sz="1000" b="0">
                <a:solidFill>
                  <a:srgbClr val="B9C4DC"/>
                </a:solidFill>
                <a:latin typeface="Aptos"/>
              </a:rPr>
              <a:t>Stored analysis records for traceability.</a:t>
            </a:r>
          </a:p>
        </p:txBody>
      </p:sp>
      <p:sp>
        <p:nvSpPr>
          <p:cNvPr id="19" name="Rounded Rectangle 18"/>
          <p:cNvSpPr/>
          <p:nvPr/>
        </p:nvSpPr>
        <p:spPr>
          <a:xfrm>
            <a:off x="868680" y="4197096"/>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4334256"/>
            <a:ext cx="3200400" cy="256032"/>
          </a:xfrm>
          <a:prstGeom prst="rect">
            <a:avLst/>
          </a:prstGeom>
          <a:noFill/>
        </p:spPr>
        <p:txBody>
          <a:bodyPr wrap="square" anchor="t">
            <a:spAutoFit/>
          </a:bodyPr>
          <a:lstStyle/>
          <a:p>
            <a:pPr algn="l"/>
            <a:r>
              <a:rPr sz="1300" b="1">
                <a:solidFill>
                  <a:srgbClr val="4CC9F0"/>
                </a:solidFill>
                <a:latin typeface="Aptos"/>
              </a:rPr>
              <a:t>CSV Upload</a:t>
            </a:r>
          </a:p>
        </p:txBody>
      </p:sp>
      <p:sp>
        <p:nvSpPr>
          <p:cNvPr id="21" name="TextBox 20"/>
          <p:cNvSpPr txBox="1"/>
          <p:nvPr/>
        </p:nvSpPr>
        <p:spPr>
          <a:xfrm>
            <a:off x="1051560" y="4608576"/>
            <a:ext cx="3154680" cy="457200"/>
          </a:xfrm>
          <a:prstGeom prst="rect">
            <a:avLst/>
          </a:prstGeom>
          <a:noFill/>
        </p:spPr>
        <p:txBody>
          <a:bodyPr wrap="square" anchor="t">
            <a:spAutoFit/>
          </a:bodyPr>
          <a:lstStyle/>
          <a:p>
            <a:pPr algn="l"/>
            <a:r>
              <a:rPr sz="1000" b="0">
                <a:solidFill>
                  <a:srgbClr val="B9C4DC"/>
                </a:solidFill>
                <a:latin typeface="Aptos"/>
              </a:rPr>
              <a:t>Bulk import using Amazon-style review format.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User Interface Showcase</a:t>
            </a:r>
          </a:p>
        </p:txBody>
      </p:sp>
      <p:sp>
        <p:nvSpPr>
          <p:cNvPr id="7" name="Rounded Rectangle 6"/>
          <p:cNvSpPr/>
          <p:nvPr/>
        </p:nvSpPr>
        <p:spPr>
          <a:xfrm>
            <a:off x="2392679" y="1325881"/>
            <a:ext cx="8031480" cy="46888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1999" y="6014740"/>
            <a:ext cx="3383280" cy="523220"/>
          </a:xfrm>
          <a:prstGeom prst="rect">
            <a:avLst/>
          </a:prstGeom>
          <a:noFill/>
        </p:spPr>
        <p:txBody>
          <a:bodyPr wrap="square" anchor="t">
            <a:spAutoFit/>
          </a:bodyPr>
          <a:lstStyle/>
          <a:p>
            <a:pPr algn="ctr"/>
            <a:r>
              <a:rPr sz="2800" b="0">
                <a:solidFill>
                  <a:srgbClr val="B9C4DC"/>
                </a:solidFill>
                <a:latin typeface="Aptos"/>
              </a:rPr>
              <a:t>Home Page</a:t>
            </a:r>
          </a:p>
        </p:txBody>
      </p:sp>
      <p:pic>
        <p:nvPicPr>
          <p:cNvPr id="8" name="Picture 7">
            <a:extLst>
              <a:ext uri="{FF2B5EF4-FFF2-40B4-BE49-F238E27FC236}">
                <a16:creationId xmlns:a16="http://schemas.microsoft.com/office/drawing/2014/main" id="{12DEB133-BDC2-BEED-C72B-0A021387CC36}"/>
              </a:ext>
            </a:extLst>
          </p:cNvPr>
          <p:cNvPicPr>
            <a:picLocks noChangeAspect="1"/>
          </p:cNvPicPr>
          <p:nvPr/>
        </p:nvPicPr>
        <p:blipFill>
          <a:blip r:embed="rId2"/>
          <a:stretch>
            <a:fillRect/>
          </a:stretch>
        </p:blipFill>
        <p:spPr>
          <a:xfrm>
            <a:off x="3017520" y="1487850"/>
            <a:ext cx="6781801" cy="42963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34CA7-748F-9B65-10B2-F822E2935A6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912A696-0F21-85D7-BC7F-4C3DE3C7D620}"/>
              </a:ext>
            </a:extLst>
          </p:cNvPr>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F10E3A6C-C6E5-C93F-39D9-81E8AF7BF069}"/>
              </a:ext>
            </a:extLst>
          </p:cNvPr>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7E3E679F-1DC2-2C25-8457-A5A9F15E188D}"/>
              </a:ext>
            </a:extLst>
          </p:cNvPr>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ADC23A3-88DF-580A-C04E-7374A40448AA}"/>
              </a:ext>
            </a:extLst>
          </p:cNvPr>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264F7C5-2098-DF06-E969-3125A7585680}"/>
              </a:ext>
            </a:extLst>
          </p:cNvPr>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User Interface Showcase</a:t>
            </a:r>
          </a:p>
        </p:txBody>
      </p:sp>
      <p:sp>
        <p:nvSpPr>
          <p:cNvPr id="7" name="Rounded Rectangle 6">
            <a:extLst>
              <a:ext uri="{FF2B5EF4-FFF2-40B4-BE49-F238E27FC236}">
                <a16:creationId xmlns:a16="http://schemas.microsoft.com/office/drawing/2014/main" id="{B452D670-2E2B-1A45-1BE0-0AB964DDE820}"/>
              </a:ext>
            </a:extLst>
          </p:cNvPr>
          <p:cNvSpPr/>
          <p:nvPr/>
        </p:nvSpPr>
        <p:spPr>
          <a:xfrm>
            <a:off x="2392679" y="1325881"/>
            <a:ext cx="8031480" cy="46888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46A8320F-26D1-A80C-DBB7-9025929EC679}"/>
              </a:ext>
            </a:extLst>
          </p:cNvPr>
          <p:cNvSpPr txBox="1"/>
          <p:nvPr/>
        </p:nvSpPr>
        <p:spPr>
          <a:xfrm>
            <a:off x="4571999" y="6014740"/>
            <a:ext cx="3383280" cy="523220"/>
          </a:xfrm>
          <a:prstGeom prst="rect">
            <a:avLst/>
          </a:prstGeom>
          <a:noFill/>
        </p:spPr>
        <p:txBody>
          <a:bodyPr wrap="square" anchor="t">
            <a:spAutoFit/>
          </a:bodyPr>
          <a:lstStyle/>
          <a:p>
            <a:pPr algn="ctr"/>
            <a:r>
              <a:rPr lang="en-US" sz="2800" dirty="0">
                <a:solidFill>
                  <a:srgbClr val="B9C4DC"/>
                </a:solidFill>
                <a:latin typeface="Aptos"/>
              </a:rPr>
              <a:t>Results </a:t>
            </a:r>
            <a:r>
              <a:rPr sz="2800" b="0" dirty="0">
                <a:solidFill>
                  <a:srgbClr val="B9C4DC"/>
                </a:solidFill>
                <a:latin typeface="Aptos"/>
              </a:rPr>
              <a:t>Page</a:t>
            </a:r>
          </a:p>
        </p:txBody>
      </p:sp>
      <p:pic>
        <p:nvPicPr>
          <p:cNvPr id="9" name="Picture 8">
            <a:extLst>
              <a:ext uri="{FF2B5EF4-FFF2-40B4-BE49-F238E27FC236}">
                <a16:creationId xmlns:a16="http://schemas.microsoft.com/office/drawing/2014/main" id="{4C795E5D-8416-7247-F623-632DC94A63E3}"/>
              </a:ext>
            </a:extLst>
          </p:cNvPr>
          <p:cNvPicPr>
            <a:picLocks noChangeAspect="1"/>
          </p:cNvPicPr>
          <p:nvPr/>
        </p:nvPicPr>
        <p:blipFill>
          <a:blip r:embed="rId2"/>
          <a:stretch>
            <a:fillRect/>
          </a:stretch>
        </p:blipFill>
        <p:spPr>
          <a:xfrm>
            <a:off x="3382823" y="1806502"/>
            <a:ext cx="5974080" cy="3888198"/>
          </a:xfrm>
          <a:prstGeom prst="rect">
            <a:avLst/>
          </a:prstGeom>
        </p:spPr>
      </p:pic>
    </p:spTree>
    <p:extLst>
      <p:ext uri="{BB962C8B-B14F-4D97-AF65-F5344CB8AC3E}">
        <p14:creationId xmlns:p14="http://schemas.microsoft.com/office/powerpoint/2010/main" val="1217062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B6A9A-2087-4907-7BE0-FCDB48198F7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92461C8-9F46-A9FD-D31A-E4D16C1D17AF}"/>
              </a:ext>
            </a:extLst>
          </p:cNvPr>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a:extLst>
              <a:ext uri="{FF2B5EF4-FFF2-40B4-BE49-F238E27FC236}">
                <a16:creationId xmlns:a16="http://schemas.microsoft.com/office/drawing/2014/main" id="{70E6A19F-C585-FB68-6F29-8999CF863220}"/>
              </a:ext>
            </a:extLst>
          </p:cNvPr>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a:extLst>
              <a:ext uri="{FF2B5EF4-FFF2-40B4-BE49-F238E27FC236}">
                <a16:creationId xmlns:a16="http://schemas.microsoft.com/office/drawing/2014/main" id="{A5BDA6EB-6CE1-AE68-2CB6-2E4FE1D8191F}"/>
              </a:ext>
            </a:extLst>
          </p:cNvPr>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1CDB6329-8835-53ED-0AEF-CA07B73C7C0B}"/>
              </a:ext>
            </a:extLst>
          </p:cNvPr>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24EE0D2D-428A-BEBF-D575-EB81A06C0991}"/>
              </a:ext>
            </a:extLst>
          </p:cNvPr>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User Interface Showcase</a:t>
            </a:r>
          </a:p>
        </p:txBody>
      </p:sp>
      <p:sp>
        <p:nvSpPr>
          <p:cNvPr id="7" name="Rounded Rectangle 6">
            <a:extLst>
              <a:ext uri="{FF2B5EF4-FFF2-40B4-BE49-F238E27FC236}">
                <a16:creationId xmlns:a16="http://schemas.microsoft.com/office/drawing/2014/main" id="{4A0D7BEE-D4A2-4211-CBF1-31CCF44A1308}"/>
              </a:ext>
            </a:extLst>
          </p:cNvPr>
          <p:cNvSpPr/>
          <p:nvPr/>
        </p:nvSpPr>
        <p:spPr>
          <a:xfrm>
            <a:off x="2392679" y="1325881"/>
            <a:ext cx="8031480" cy="46888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747E6597-CCF7-DABD-F4E8-B8DC472943B2}"/>
              </a:ext>
            </a:extLst>
          </p:cNvPr>
          <p:cNvSpPr txBox="1"/>
          <p:nvPr/>
        </p:nvSpPr>
        <p:spPr>
          <a:xfrm>
            <a:off x="4571999" y="6014740"/>
            <a:ext cx="3383280" cy="523220"/>
          </a:xfrm>
          <a:prstGeom prst="rect">
            <a:avLst/>
          </a:prstGeom>
          <a:noFill/>
        </p:spPr>
        <p:txBody>
          <a:bodyPr wrap="square" anchor="t">
            <a:spAutoFit/>
          </a:bodyPr>
          <a:lstStyle/>
          <a:p>
            <a:pPr algn="ctr"/>
            <a:r>
              <a:rPr lang="en-US" sz="2800" dirty="0">
                <a:solidFill>
                  <a:srgbClr val="B9C4DC"/>
                </a:solidFill>
                <a:latin typeface="Aptos"/>
              </a:rPr>
              <a:t>Analysis</a:t>
            </a:r>
            <a:r>
              <a:rPr sz="2800" b="0" dirty="0">
                <a:solidFill>
                  <a:srgbClr val="B9C4DC"/>
                </a:solidFill>
                <a:latin typeface="Aptos"/>
              </a:rPr>
              <a:t> Page</a:t>
            </a:r>
          </a:p>
        </p:txBody>
      </p:sp>
      <p:pic>
        <p:nvPicPr>
          <p:cNvPr id="9" name="Picture 8">
            <a:extLst>
              <a:ext uri="{FF2B5EF4-FFF2-40B4-BE49-F238E27FC236}">
                <a16:creationId xmlns:a16="http://schemas.microsoft.com/office/drawing/2014/main" id="{823B856F-2FD3-627E-02B3-88705D9A923C}"/>
              </a:ext>
            </a:extLst>
          </p:cNvPr>
          <p:cNvPicPr>
            <a:picLocks noChangeAspect="1"/>
          </p:cNvPicPr>
          <p:nvPr/>
        </p:nvPicPr>
        <p:blipFill>
          <a:blip r:embed="rId2"/>
          <a:stretch>
            <a:fillRect/>
          </a:stretch>
        </p:blipFill>
        <p:spPr>
          <a:xfrm>
            <a:off x="3429209" y="1645920"/>
            <a:ext cx="6146928" cy="4078484"/>
          </a:xfrm>
          <a:prstGeom prst="rect">
            <a:avLst/>
          </a:prstGeom>
        </p:spPr>
      </p:pic>
    </p:spTree>
    <p:extLst>
      <p:ext uri="{BB962C8B-B14F-4D97-AF65-F5344CB8AC3E}">
        <p14:creationId xmlns:p14="http://schemas.microsoft.com/office/powerpoint/2010/main" val="3402478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Tech Stack</a:t>
            </a:r>
          </a:p>
        </p:txBody>
      </p:sp>
      <p:sp>
        <p:nvSpPr>
          <p:cNvPr id="7" name="Rounded Rectangle 6"/>
          <p:cNvSpPr/>
          <p:nvPr/>
        </p:nvSpPr>
        <p:spPr>
          <a:xfrm>
            <a:off x="822960" y="164592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783080"/>
            <a:ext cx="3200400" cy="256032"/>
          </a:xfrm>
          <a:prstGeom prst="rect">
            <a:avLst/>
          </a:prstGeom>
          <a:noFill/>
        </p:spPr>
        <p:txBody>
          <a:bodyPr wrap="square" anchor="t">
            <a:spAutoFit/>
          </a:bodyPr>
          <a:lstStyle/>
          <a:p>
            <a:pPr algn="l"/>
            <a:r>
              <a:rPr sz="1300" b="1">
                <a:solidFill>
                  <a:srgbClr val="4CC9F0"/>
                </a:solidFill>
                <a:latin typeface="Aptos"/>
              </a:rPr>
              <a:t>FastAPI</a:t>
            </a:r>
          </a:p>
        </p:txBody>
      </p:sp>
      <p:sp>
        <p:nvSpPr>
          <p:cNvPr id="9" name="TextBox 8"/>
          <p:cNvSpPr txBox="1"/>
          <p:nvPr/>
        </p:nvSpPr>
        <p:spPr>
          <a:xfrm>
            <a:off x="1005840" y="2057400"/>
            <a:ext cx="3154680" cy="457200"/>
          </a:xfrm>
          <a:prstGeom prst="rect">
            <a:avLst/>
          </a:prstGeom>
          <a:noFill/>
        </p:spPr>
        <p:txBody>
          <a:bodyPr wrap="square" anchor="t">
            <a:spAutoFit/>
          </a:bodyPr>
          <a:lstStyle/>
          <a:p>
            <a:pPr algn="l"/>
            <a:r>
              <a:rPr sz="1000" b="0">
                <a:solidFill>
                  <a:srgbClr val="B9C4DC"/>
                </a:solidFill>
                <a:latin typeface="Aptos"/>
              </a:rPr>
              <a:t>Modern API backend for forms and JSON routes.</a:t>
            </a:r>
          </a:p>
        </p:txBody>
      </p:sp>
      <p:sp>
        <p:nvSpPr>
          <p:cNvPr id="10" name="Rounded Rectangle 9"/>
          <p:cNvSpPr/>
          <p:nvPr/>
        </p:nvSpPr>
        <p:spPr>
          <a:xfrm>
            <a:off x="4526280" y="164592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60" y="1783080"/>
            <a:ext cx="3200400" cy="256032"/>
          </a:xfrm>
          <a:prstGeom prst="rect">
            <a:avLst/>
          </a:prstGeom>
          <a:noFill/>
        </p:spPr>
        <p:txBody>
          <a:bodyPr wrap="square" anchor="t">
            <a:spAutoFit/>
          </a:bodyPr>
          <a:lstStyle/>
          <a:p>
            <a:pPr algn="l"/>
            <a:r>
              <a:rPr sz="1300" b="1">
                <a:solidFill>
                  <a:srgbClr val="4CC9F0"/>
                </a:solidFill>
                <a:latin typeface="Aptos"/>
              </a:rPr>
              <a:t>Python</a:t>
            </a:r>
          </a:p>
        </p:txBody>
      </p:sp>
      <p:sp>
        <p:nvSpPr>
          <p:cNvPr id="12" name="TextBox 11"/>
          <p:cNvSpPr txBox="1"/>
          <p:nvPr/>
        </p:nvSpPr>
        <p:spPr>
          <a:xfrm>
            <a:off x="4709160" y="2057400"/>
            <a:ext cx="3154680" cy="457200"/>
          </a:xfrm>
          <a:prstGeom prst="rect">
            <a:avLst/>
          </a:prstGeom>
          <a:noFill/>
        </p:spPr>
        <p:txBody>
          <a:bodyPr wrap="square" anchor="t">
            <a:spAutoFit/>
          </a:bodyPr>
          <a:lstStyle/>
          <a:p>
            <a:pPr algn="l"/>
            <a:r>
              <a:rPr sz="1000" b="0">
                <a:solidFill>
                  <a:srgbClr val="B9C4DC"/>
                </a:solidFill>
                <a:latin typeface="Aptos"/>
              </a:rPr>
              <a:t>Core language for backend, NLP, and automation.</a:t>
            </a:r>
          </a:p>
        </p:txBody>
      </p:sp>
      <p:sp>
        <p:nvSpPr>
          <p:cNvPr id="13" name="Rounded Rectangle 12"/>
          <p:cNvSpPr/>
          <p:nvPr/>
        </p:nvSpPr>
        <p:spPr>
          <a:xfrm>
            <a:off x="8229600" y="164592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0" y="1783080"/>
            <a:ext cx="3200400" cy="256032"/>
          </a:xfrm>
          <a:prstGeom prst="rect">
            <a:avLst/>
          </a:prstGeom>
          <a:noFill/>
        </p:spPr>
        <p:txBody>
          <a:bodyPr wrap="square" anchor="t">
            <a:spAutoFit/>
          </a:bodyPr>
          <a:lstStyle/>
          <a:p>
            <a:pPr algn="l"/>
            <a:r>
              <a:rPr sz="1300" b="1">
                <a:solidFill>
                  <a:srgbClr val="4CC9F0"/>
                </a:solidFill>
                <a:latin typeface="Aptos"/>
              </a:rPr>
              <a:t>SQLite</a:t>
            </a:r>
          </a:p>
        </p:txBody>
      </p:sp>
      <p:sp>
        <p:nvSpPr>
          <p:cNvPr id="15" name="TextBox 14"/>
          <p:cNvSpPr txBox="1"/>
          <p:nvPr/>
        </p:nvSpPr>
        <p:spPr>
          <a:xfrm>
            <a:off x="8412480" y="2057400"/>
            <a:ext cx="3154680" cy="457200"/>
          </a:xfrm>
          <a:prstGeom prst="rect">
            <a:avLst/>
          </a:prstGeom>
          <a:noFill/>
        </p:spPr>
        <p:txBody>
          <a:bodyPr wrap="square" anchor="t">
            <a:spAutoFit/>
          </a:bodyPr>
          <a:lstStyle/>
          <a:p>
            <a:pPr algn="l"/>
            <a:r>
              <a:rPr sz="1000" b="0">
                <a:solidFill>
                  <a:srgbClr val="B9C4DC"/>
                </a:solidFill>
                <a:latin typeface="Aptos"/>
              </a:rPr>
              <a:t>Lightweight structured storage for local deployment.</a:t>
            </a:r>
          </a:p>
        </p:txBody>
      </p:sp>
      <p:sp>
        <p:nvSpPr>
          <p:cNvPr id="16" name="Rounded Rectangle 15"/>
          <p:cNvSpPr/>
          <p:nvPr/>
        </p:nvSpPr>
        <p:spPr>
          <a:xfrm>
            <a:off x="822960" y="289864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05840" y="3035808"/>
            <a:ext cx="3200400" cy="256032"/>
          </a:xfrm>
          <a:prstGeom prst="rect">
            <a:avLst/>
          </a:prstGeom>
          <a:noFill/>
        </p:spPr>
        <p:txBody>
          <a:bodyPr wrap="square" anchor="t">
            <a:spAutoFit/>
          </a:bodyPr>
          <a:lstStyle/>
          <a:p>
            <a:pPr algn="l"/>
            <a:r>
              <a:rPr sz="1300" b="1">
                <a:solidFill>
                  <a:srgbClr val="4CC9F0"/>
                </a:solidFill>
                <a:latin typeface="Aptos"/>
              </a:rPr>
              <a:t>TF-IDF</a:t>
            </a:r>
          </a:p>
        </p:txBody>
      </p:sp>
      <p:sp>
        <p:nvSpPr>
          <p:cNvPr id="18" name="TextBox 17"/>
          <p:cNvSpPr txBox="1"/>
          <p:nvPr/>
        </p:nvSpPr>
        <p:spPr>
          <a:xfrm>
            <a:off x="1005840" y="3310128"/>
            <a:ext cx="3154680" cy="457200"/>
          </a:xfrm>
          <a:prstGeom prst="rect">
            <a:avLst/>
          </a:prstGeom>
          <a:noFill/>
        </p:spPr>
        <p:txBody>
          <a:bodyPr wrap="square" anchor="t">
            <a:spAutoFit/>
          </a:bodyPr>
          <a:lstStyle/>
          <a:p>
            <a:pPr algn="l"/>
            <a:r>
              <a:rPr sz="1000" b="0">
                <a:solidFill>
                  <a:srgbClr val="B9C4DC"/>
                </a:solidFill>
                <a:latin typeface="Aptos"/>
              </a:rPr>
              <a:t>Text representation for stable baseline scoring.</a:t>
            </a:r>
          </a:p>
        </p:txBody>
      </p:sp>
      <p:sp>
        <p:nvSpPr>
          <p:cNvPr id="19" name="Rounded Rectangle 18"/>
          <p:cNvSpPr/>
          <p:nvPr/>
        </p:nvSpPr>
        <p:spPr>
          <a:xfrm>
            <a:off x="4526280" y="289864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09160" y="3035808"/>
            <a:ext cx="3200400" cy="256032"/>
          </a:xfrm>
          <a:prstGeom prst="rect">
            <a:avLst/>
          </a:prstGeom>
          <a:noFill/>
        </p:spPr>
        <p:txBody>
          <a:bodyPr wrap="square" anchor="t">
            <a:spAutoFit/>
          </a:bodyPr>
          <a:lstStyle/>
          <a:p>
            <a:pPr algn="l"/>
            <a:r>
              <a:rPr sz="1300" b="1">
                <a:solidFill>
                  <a:srgbClr val="4CC9F0"/>
                </a:solidFill>
                <a:latin typeface="Aptos"/>
              </a:rPr>
              <a:t>Feature Fusion</a:t>
            </a:r>
          </a:p>
        </p:txBody>
      </p:sp>
      <p:sp>
        <p:nvSpPr>
          <p:cNvPr id="21" name="TextBox 20"/>
          <p:cNvSpPr txBox="1"/>
          <p:nvPr/>
        </p:nvSpPr>
        <p:spPr>
          <a:xfrm>
            <a:off x="4709160" y="3310128"/>
            <a:ext cx="3154680" cy="457200"/>
          </a:xfrm>
          <a:prstGeom prst="rect">
            <a:avLst/>
          </a:prstGeom>
          <a:noFill/>
        </p:spPr>
        <p:txBody>
          <a:bodyPr wrap="square" anchor="t">
            <a:spAutoFit/>
          </a:bodyPr>
          <a:lstStyle/>
          <a:p>
            <a:pPr algn="l"/>
            <a:r>
              <a:rPr sz="1000" b="0">
                <a:solidFill>
                  <a:srgbClr val="B9C4DC"/>
                </a:solidFill>
                <a:latin typeface="Aptos"/>
              </a:rPr>
              <a:t>Combines text vectors and reviewer metadata.</a:t>
            </a:r>
          </a:p>
        </p:txBody>
      </p:sp>
      <p:sp>
        <p:nvSpPr>
          <p:cNvPr id="22" name="Rounded Rectangle 21"/>
          <p:cNvSpPr/>
          <p:nvPr/>
        </p:nvSpPr>
        <p:spPr>
          <a:xfrm>
            <a:off x="8229600" y="289864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0" y="3035808"/>
            <a:ext cx="3200400" cy="256032"/>
          </a:xfrm>
          <a:prstGeom prst="rect">
            <a:avLst/>
          </a:prstGeom>
          <a:noFill/>
        </p:spPr>
        <p:txBody>
          <a:bodyPr wrap="square" anchor="t">
            <a:spAutoFit/>
          </a:bodyPr>
          <a:lstStyle/>
          <a:p>
            <a:pPr algn="l"/>
            <a:r>
              <a:rPr sz="1300" b="1">
                <a:solidFill>
                  <a:srgbClr val="4CC9F0"/>
                </a:solidFill>
                <a:latin typeface="Aptos"/>
              </a:rPr>
              <a:t>NLP Engineering</a:t>
            </a:r>
          </a:p>
        </p:txBody>
      </p:sp>
      <p:sp>
        <p:nvSpPr>
          <p:cNvPr id="24" name="TextBox 23"/>
          <p:cNvSpPr txBox="1"/>
          <p:nvPr/>
        </p:nvSpPr>
        <p:spPr>
          <a:xfrm>
            <a:off x="8412480" y="3310128"/>
            <a:ext cx="3154680" cy="457200"/>
          </a:xfrm>
          <a:prstGeom prst="rect">
            <a:avLst/>
          </a:prstGeom>
          <a:noFill/>
        </p:spPr>
        <p:txBody>
          <a:bodyPr wrap="square" anchor="t">
            <a:spAutoFit/>
          </a:bodyPr>
          <a:lstStyle/>
          <a:p>
            <a:pPr algn="l"/>
            <a:r>
              <a:rPr sz="1000" b="0">
                <a:solidFill>
                  <a:srgbClr val="B9C4DC"/>
                </a:solidFill>
                <a:latin typeface="Aptos"/>
              </a:rPr>
              <a:t>Sentiment gap, readability, repetition, velocity.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Performance &amp; Current Scope</a:t>
            </a:r>
          </a:p>
        </p:txBody>
      </p:sp>
      <p:sp>
        <p:nvSpPr>
          <p:cNvPr id="7" name="Rounded Rectangle 6"/>
          <p:cNvSpPr/>
          <p:nvPr/>
        </p:nvSpPr>
        <p:spPr>
          <a:xfrm>
            <a:off x="777240" y="1463040"/>
            <a:ext cx="6400800" cy="35661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874519"/>
            <a:ext cx="5897880" cy="1828800"/>
          </a:xfrm>
          <a:prstGeom prst="rect">
            <a:avLst/>
          </a:prstGeom>
          <a:noFill/>
        </p:spPr>
        <p:txBody>
          <a:bodyPr wrap="square" anchor="t">
            <a:spAutoFit/>
          </a:bodyPr>
          <a:lstStyle/>
          <a:p>
            <a:pPr algn="l"/>
            <a:r>
              <a:rPr sz="1800" b="0">
                <a:solidFill>
                  <a:srgbClr val="F2F6FF"/>
                </a:solidFill>
                <a:latin typeface="Aptos"/>
              </a:rPr>
              <a:t>The current version uses a stable baseline model that is easy to run locally and reliable for academic demonstration. The architecture is intentionally modular, which means the present build is suitable for evaluation today while still being ready for more advanced scaling tomorrow.</a:t>
            </a:r>
          </a:p>
        </p:txBody>
      </p:sp>
      <p:sp>
        <p:nvSpPr>
          <p:cNvPr id="9" name="Rounded Rectangle 8"/>
          <p:cNvSpPr/>
          <p:nvPr/>
        </p:nvSpPr>
        <p:spPr>
          <a:xfrm>
            <a:off x="7498079" y="178308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80959" y="1920240"/>
            <a:ext cx="3200400" cy="256032"/>
          </a:xfrm>
          <a:prstGeom prst="rect">
            <a:avLst/>
          </a:prstGeom>
          <a:noFill/>
        </p:spPr>
        <p:txBody>
          <a:bodyPr wrap="square" anchor="t">
            <a:spAutoFit/>
          </a:bodyPr>
          <a:lstStyle/>
          <a:p>
            <a:pPr algn="l"/>
            <a:r>
              <a:rPr sz="1300" b="1">
                <a:solidFill>
                  <a:srgbClr val="4CC9F0"/>
                </a:solidFill>
                <a:latin typeface="Aptos"/>
              </a:rPr>
              <a:t>Stable Inference</a:t>
            </a:r>
          </a:p>
        </p:txBody>
      </p:sp>
      <p:sp>
        <p:nvSpPr>
          <p:cNvPr id="11" name="TextBox 10"/>
          <p:cNvSpPr txBox="1"/>
          <p:nvPr/>
        </p:nvSpPr>
        <p:spPr>
          <a:xfrm>
            <a:off x="7680959" y="2194560"/>
            <a:ext cx="3154680" cy="457200"/>
          </a:xfrm>
          <a:prstGeom prst="rect">
            <a:avLst/>
          </a:prstGeom>
          <a:noFill/>
        </p:spPr>
        <p:txBody>
          <a:bodyPr wrap="square" anchor="t">
            <a:spAutoFit/>
          </a:bodyPr>
          <a:lstStyle/>
          <a:p>
            <a:pPr algn="l"/>
            <a:r>
              <a:rPr sz="1000" b="0">
                <a:solidFill>
                  <a:srgbClr val="B9C4DC"/>
                </a:solidFill>
                <a:latin typeface="Aptos"/>
              </a:rPr>
              <a:t>Runs cleanly on a local project setup.</a:t>
            </a:r>
          </a:p>
        </p:txBody>
      </p:sp>
      <p:sp>
        <p:nvSpPr>
          <p:cNvPr id="12" name="Rounded Rectangle 11"/>
          <p:cNvSpPr/>
          <p:nvPr/>
        </p:nvSpPr>
        <p:spPr>
          <a:xfrm>
            <a:off x="7498079" y="303580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80959" y="3172968"/>
            <a:ext cx="3200400" cy="256032"/>
          </a:xfrm>
          <a:prstGeom prst="rect">
            <a:avLst/>
          </a:prstGeom>
          <a:noFill/>
        </p:spPr>
        <p:txBody>
          <a:bodyPr wrap="square" anchor="t">
            <a:spAutoFit/>
          </a:bodyPr>
          <a:lstStyle/>
          <a:p>
            <a:pPr algn="l"/>
            <a:r>
              <a:rPr sz="1300" b="1">
                <a:solidFill>
                  <a:srgbClr val="4CC9F0"/>
                </a:solidFill>
                <a:latin typeface="Aptos"/>
              </a:rPr>
              <a:t>Modular Backend</a:t>
            </a:r>
          </a:p>
        </p:txBody>
      </p:sp>
      <p:sp>
        <p:nvSpPr>
          <p:cNvPr id="14" name="TextBox 13"/>
          <p:cNvSpPr txBox="1"/>
          <p:nvPr/>
        </p:nvSpPr>
        <p:spPr>
          <a:xfrm>
            <a:off x="7680959" y="3447288"/>
            <a:ext cx="3154680" cy="457200"/>
          </a:xfrm>
          <a:prstGeom prst="rect">
            <a:avLst/>
          </a:prstGeom>
          <a:noFill/>
        </p:spPr>
        <p:txBody>
          <a:bodyPr wrap="square" anchor="t">
            <a:spAutoFit/>
          </a:bodyPr>
          <a:lstStyle/>
          <a:p>
            <a:pPr algn="l"/>
            <a:r>
              <a:rPr sz="1000" b="0">
                <a:solidFill>
                  <a:srgbClr val="B9C4DC"/>
                </a:solidFill>
                <a:latin typeface="Aptos"/>
              </a:rPr>
              <a:t>FastAPI architecture supports future expansion.</a:t>
            </a:r>
          </a:p>
        </p:txBody>
      </p:sp>
      <p:sp>
        <p:nvSpPr>
          <p:cNvPr id="15" name="Rounded Rectangle 14"/>
          <p:cNvSpPr/>
          <p:nvPr/>
        </p:nvSpPr>
        <p:spPr>
          <a:xfrm>
            <a:off x="7498079" y="4288536"/>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80959" y="4425696"/>
            <a:ext cx="3200400" cy="256032"/>
          </a:xfrm>
          <a:prstGeom prst="rect">
            <a:avLst/>
          </a:prstGeom>
          <a:noFill/>
        </p:spPr>
        <p:txBody>
          <a:bodyPr wrap="square" anchor="t">
            <a:spAutoFit/>
          </a:bodyPr>
          <a:lstStyle/>
          <a:p>
            <a:pPr algn="l"/>
            <a:r>
              <a:rPr sz="1300" b="1">
                <a:solidFill>
                  <a:srgbClr val="4CC9F0"/>
                </a:solidFill>
                <a:latin typeface="Aptos"/>
              </a:rPr>
              <a:t>Scale Ready</a:t>
            </a:r>
          </a:p>
        </p:txBody>
      </p:sp>
      <p:sp>
        <p:nvSpPr>
          <p:cNvPr id="17" name="TextBox 16"/>
          <p:cNvSpPr txBox="1"/>
          <p:nvPr/>
        </p:nvSpPr>
        <p:spPr>
          <a:xfrm>
            <a:off x="7680959" y="4700016"/>
            <a:ext cx="3154680" cy="457200"/>
          </a:xfrm>
          <a:prstGeom prst="rect">
            <a:avLst/>
          </a:prstGeom>
          <a:noFill/>
        </p:spPr>
        <p:txBody>
          <a:bodyPr wrap="square" anchor="t">
            <a:spAutoFit/>
          </a:bodyPr>
          <a:lstStyle/>
          <a:p>
            <a:pPr algn="l"/>
            <a:r>
              <a:rPr sz="1000" b="0">
                <a:solidFill>
                  <a:srgbClr val="B9C4DC"/>
                </a:solidFill>
                <a:latin typeface="Aptos"/>
              </a:rPr>
              <a:t>Deep-model path already exists in the codebase.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Future Scope</a:t>
            </a:r>
          </a:p>
        </p:txBody>
      </p:sp>
      <p:sp>
        <p:nvSpPr>
          <p:cNvPr id="7" name="Rounded Rectangle 6"/>
          <p:cNvSpPr/>
          <p:nvPr/>
        </p:nvSpPr>
        <p:spPr>
          <a:xfrm>
            <a:off x="868680" y="173736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51560" y="1874520"/>
            <a:ext cx="3200400" cy="256032"/>
          </a:xfrm>
          <a:prstGeom prst="rect">
            <a:avLst/>
          </a:prstGeom>
          <a:noFill/>
        </p:spPr>
        <p:txBody>
          <a:bodyPr wrap="square" anchor="t">
            <a:spAutoFit/>
          </a:bodyPr>
          <a:lstStyle/>
          <a:p>
            <a:pPr algn="l"/>
            <a:r>
              <a:rPr sz="1300" b="1">
                <a:solidFill>
                  <a:srgbClr val="4CC9F0"/>
                </a:solidFill>
                <a:latin typeface="Aptos"/>
              </a:rPr>
              <a:t>Transformer + BiLSTM</a:t>
            </a:r>
          </a:p>
        </p:txBody>
      </p:sp>
      <p:sp>
        <p:nvSpPr>
          <p:cNvPr id="9" name="TextBox 8"/>
          <p:cNvSpPr txBox="1"/>
          <p:nvPr/>
        </p:nvSpPr>
        <p:spPr>
          <a:xfrm>
            <a:off x="1051560" y="2148840"/>
            <a:ext cx="3154680" cy="457200"/>
          </a:xfrm>
          <a:prstGeom prst="rect">
            <a:avLst/>
          </a:prstGeom>
          <a:noFill/>
        </p:spPr>
        <p:txBody>
          <a:bodyPr wrap="square" anchor="t">
            <a:spAutoFit/>
          </a:bodyPr>
          <a:lstStyle/>
          <a:p>
            <a:pPr algn="l"/>
            <a:r>
              <a:rPr sz="1000" b="0">
                <a:solidFill>
                  <a:srgbClr val="B9C4DC"/>
                </a:solidFill>
                <a:latin typeface="Aptos"/>
              </a:rPr>
              <a:t>Move from baseline inference to a richer hybrid deep model.</a:t>
            </a:r>
          </a:p>
        </p:txBody>
      </p:sp>
      <p:sp>
        <p:nvSpPr>
          <p:cNvPr id="10" name="Rounded Rectangle 9"/>
          <p:cNvSpPr/>
          <p:nvPr/>
        </p:nvSpPr>
        <p:spPr>
          <a:xfrm>
            <a:off x="4572000" y="1737360"/>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54880" y="1874520"/>
            <a:ext cx="3200400" cy="256032"/>
          </a:xfrm>
          <a:prstGeom prst="rect">
            <a:avLst/>
          </a:prstGeom>
          <a:noFill/>
        </p:spPr>
        <p:txBody>
          <a:bodyPr wrap="square" anchor="t">
            <a:spAutoFit/>
          </a:bodyPr>
          <a:lstStyle/>
          <a:p>
            <a:pPr algn="l"/>
            <a:r>
              <a:rPr sz="1300" b="1">
                <a:solidFill>
                  <a:srgbClr val="4CC9F0"/>
                </a:solidFill>
                <a:latin typeface="Aptos"/>
              </a:rPr>
              <a:t>Larger Datasets</a:t>
            </a:r>
          </a:p>
        </p:txBody>
      </p:sp>
      <p:sp>
        <p:nvSpPr>
          <p:cNvPr id="12" name="TextBox 11"/>
          <p:cNvSpPr txBox="1"/>
          <p:nvPr/>
        </p:nvSpPr>
        <p:spPr>
          <a:xfrm>
            <a:off x="4754880" y="2148840"/>
            <a:ext cx="3154680" cy="457200"/>
          </a:xfrm>
          <a:prstGeom prst="rect">
            <a:avLst/>
          </a:prstGeom>
          <a:noFill/>
        </p:spPr>
        <p:txBody>
          <a:bodyPr wrap="square" anchor="t">
            <a:spAutoFit/>
          </a:bodyPr>
          <a:lstStyle/>
          <a:p>
            <a:pPr algn="l"/>
            <a:r>
              <a:rPr sz="1000" b="0">
                <a:solidFill>
                  <a:srgbClr val="B9C4DC"/>
                </a:solidFill>
                <a:latin typeface="Aptos"/>
              </a:rPr>
              <a:t>Train on Amazon Reviews 2023 or SNAP-scale review corpora.</a:t>
            </a:r>
          </a:p>
        </p:txBody>
      </p:sp>
      <p:sp>
        <p:nvSpPr>
          <p:cNvPr id="13" name="Rounded Rectangle 12"/>
          <p:cNvSpPr/>
          <p:nvPr/>
        </p:nvSpPr>
        <p:spPr>
          <a:xfrm>
            <a:off x="868680" y="299008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51560" y="3127248"/>
            <a:ext cx="3200400" cy="256032"/>
          </a:xfrm>
          <a:prstGeom prst="rect">
            <a:avLst/>
          </a:prstGeom>
          <a:noFill/>
        </p:spPr>
        <p:txBody>
          <a:bodyPr wrap="square" anchor="t">
            <a:spAutoFit/>
          </a:bodyPr>
          <a:lstStyle/>
          <a:p>
            <a:pPr algn="l"/>
            <a:r>
              <a:rPr sz="1300" b="1">
                <a:solidFill>
                  <a:srgbClr val="4CC9F0"/>
                </a:solidFill>
                <a:latin typeface="Aptos"/>
              </a:rPr>
              <a:t>Multilingual Support</a:t>
            </a:r>
          </a:p>
        </p:txBody>
      </p:sp>
      <p:sp>
        <p:nvSpPr>
          <p:cNvPr id="15" name="TextBox 14"/>
          <p:cNvSpPr txBox="1"/>
          <p:nvPr/>
        </p:nvSpPr>
        <p:spPr>
          <a:xfrm>
            <a:off x="1051560" y="3401568"/>
            <a:ext cx="3154680" cy="457200"/>
          </a:xfrm>
          <a:prstGeom prst="rect">
            <a:avLst/>
          </a:prstGeom>
          <a:noFill/>
        </p:spPr>
        <p:txBody>
          <a:bodyPr wrap="square" anchor="t">
            <a:spAutoFit/>
          </a:bodyPr>
          <a:lstStyle/>
          <a:p>
            <a:pPr algn="l"/>
            <a:r>
              <a:rPr sz="1000" b="0">
                <a:solidFill>
                  <a:srgbClr val="B9C4DC"/>
                </a:solidFill>
                <a:latin typeface="Aptos"/>
              </a:rPr>
              <a:t>Extend the pipeline for mixed-language review text.</a:t>
            </a:r>
          </a:p>
        </p:txBody>
      </p:sp>
      <p:sp>
        <p:nvSpPr>
          <p:cNvPr id="16" name="Rounded Rectangle 15"/>
          <p:cNvSpPr/>
          <p:nvPr/>
        </p:nvSpPr>
        <p:spPr>
          <a:xfrm>
            <a:off x="4572000" y="2990088"/>
            <a:ext cx="3474720" cy="105156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754880" y="3127248"/>
            <a:ext cx="3200400" cy="256032"/>
          </a:xfrm>
          <a:prstGeom prst="rect">
            <a:avLst/>
          </a:prstGeom>
          <a:noFill/>
        </p:spPr>
        <p:txBody>
          <a:bodyPr wrap="square" anchor="t">
            <a:spAutoFit/>
          </a:bodyPr>
          <a:lstStyle/>
          <a:p>
            <a:pPr algn="l"/>
            <a:r>
              <a:rPr sz="1300" b="1">
                <a:solidFill>
                  <a:srgbClr val="4CC9F0"/>
                </a:solidFill>
                <a:latin typeface="Aptos"/>
              </a:rPr>
              <a:t>Real-Time Scraping</a:t>
            </a:r>
          </a:p>
        </p:txBody>
      </p:sp>
      <p:sp>
        <p:nvSpPr>
          <p:cNvPr id="18" name="TextBox 17"/>
          <p:cNvSpPr txBox="1"/>
          <p:nvPr/>
        </p:nvSpPr>
        <p:spPr>
          <a:xfrm>
            <a:off x="4754880" y="3401568"/>
            <a:ext cx="3154680" cy="457200"/>
          </a:xfrm>
          <a:prstGeom prst="rect">
            <a:avLst/>
          </a:prstGeom>
          <a:noFill/>
        </p:spPr>
        <p:txBody>
          <a:bodyPr wrap="square" anchor="t">
            <a:spAutoFit/>
          </a:bodyPr>
          <a:lstStyle/>
          <a:p>
            <a:pPr algn="l"/>
            <a:r>
              <a:rPr sz="1000" b="0">
                <a:solidFill>
                  <a:srgbClr val="B9C4DC"/>
                </a:solidFill>
                <a:latin typeface="Aptos"/>
              </a:rPr>
              <a:t>Integrate live review ingestion for continuous monitoring.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80C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7955279" y="-822960"/>
            <a:ext cx="3840480" cy="3840480"/>
          </a:xfrm>
          <a:prstGeom prst="ellipse">
            <a:avLst/>
          </a:prstGeom>
          <a:solidFill>
            <a:srgbClr val="7B2F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640080" y="4114800"/>
            <a:ext cx="3383280" cy="3383280"/>
          </a:xfrm>
          <a:prstGeom prst="ellipse">
            <a:avLst/>
          </a:prstGeom>
          <a:solidFill>
            <a:srgbClr val="4CC9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74320" y="320040"/>
            <a:ext cx="11612880" cy="6217920"/>
          </a:xfrm>
          <a:prstGeom prst="rect">
            <a:avLst/>
          </a:prstGeom>
          <a:solidFill>
            <a:srgbClr val="120A2D"/>
          </a:solidFill>
          <a:ln w="12700">
            <a:solidFill>
              <a:srgbClr val="4E5C8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411480"/>
            <a:ext cx="10789920" cy="914400"/>
          </a:xfrm>
          <a:prstGeom prst="rect">
            <a:avLst/>
          </a:prstGeom>
          <a:noFill/>
        </p:spPr>
        <p:txBody>
          <a:bodyPr wrap="none">
            <a:spAutoFit/>
          </a:bodyPr>
          <a:lstStyle/>
          <a:p>
            <a:r>
              <a:rPr sz="2500" b="1">
                <a:solidFill>
                  <a:srgbClr val="F2F6FF"/>
                </a:solidFill>
                <a:latin typeface="Aptos Display"/>
              </a:rPr>
              <a:t>Conclusion</a:t>
            </a:r>
          </a:p>
        </p:txBody>
      </p:sp>
      <p:sp>
        <p:nvSpPr>
          <p:cNvPr id="7" name="Rounded Rectangle 6"/>
          <p:cNvSpPr/>
          <p:nvPr/>
        </p:nvSpPr>
        <p:spPr>
          <a:xfrm>
            <a:off x="914400" y="1645920"/>
            <a:ext cx="10058400" cy="2834640"/>
          </a:xfrm>
          <a:prstGeom prst="roundRect">
            <a:avLst/>
          </a:prstGeom>
          <a:solidFill>
            <a:srgbClr val="202947"/>
          </a:solidFill>
          <a:ln w="15240">
            <a:solidFill>
              <a:srgbClr val="5A6A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34440" y="2148840"/>
            <a:ext cx="9418320" cy="1737360"/>
          </a:xfrm>
          <a:prstGeom prst="rect">
            <a:avLst/>
          </a:prstGeom>
          <a:noFill/>
        </p:spPr>
        <p:txBody>
          <a:bodyPr wrap="square" anchor="t">
            <a:spAutoFit/>
          </a:bodyPr>
          <a:lstStyle/>
          <a:p>
            <a:pPr algn="ctr"/>
            <a:r>
              <a:rPr sz="2000" b="0">
                <a:solidFill>
                  <a:srgbClr val="F2F6FF"/>
                </a:solidFill>
                <a:latin typeface="Aptos"/>
              </a:rPr>
              <a:t>TrustCheck 1.4 shows how machine learning and NLP can improve trust in digital commerce. By combining text signals, reviewer behavior, and a user-facing interface, the system moves beyond basic sentiment analysis and delivers a more practical approach to fake review detection. It is a strong academic foundation for future research and real-world deployment.</a:t>
            </a:r>
          </a:p>
        </p:txBody>
      </p:sp>
      <p:sp>
        <p:nvSpPr>
          <p:cNvPr id="9" name="TextBox 8"/>
          <p:cNvSpPr txBox="1"/>
          <p:nvPr/>
        </p:nvSpPr>
        <p:spPr>
          <a:xfrm>
            <a:off x="4389120" y="5074920"/>
            <a:ext cx="3200400" cy="411480"/>
          </a:xfrm>
          <a:prstGeom prst="rect">
            <a:avLst/>
          </a:prstGeom>
          <a:noFill/>
        </p:spPr>
        <p:txBody>
          <a:bodyPr wrap="square" anchor="t">
            <a:spAutoFit/>
          </a:bodyPr>
          <a:lstStyle/>
          <a:p>
            <a:pPr algn="ctr"/>
            <a:r>
              <a:rPr sz="2600" b="1">
                <a:solidFill>
                  <a:srgbClr val="4CC9F0"/>
                </a:solidFill>
                <a:latin typeface="Apto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34</TotalTime>
  <Words>719</Words>
  <Application>Microsoft Macintosh PowerPoint</Application>
  <PresentationFormat>Widescreen</PresentationFormat>
  <Paragraphs>107</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Arav Wahi</cp:lastModifiedBy>
  <cp:revision>3</cp:revision>
  <dcterms:created xsi:type="dcterms:W3CDTF">2013-01-27T09:14:16Z</dcterms:created>
  <dcterms:modified xsi:type="dcterms:W3CDTF">2026-04-13T15:34:09Z</dcterms:modified>
  <cp:category/>
</cp:coreProperties>
</file>